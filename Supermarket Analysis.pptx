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2" roundtripDataSignature="AMtx7mgeoE3aggdlPb8BGbey6+PmYOmL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E6C0C2-0E81-4D50-8E98-7F2A2882598D}">
  <a:tblStyle styleId="{77E6C0C2-0E81-4D50-8E98-7F2A2882598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1b0ca78eb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g31b0ca78eb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b3332d8b2_8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1b3332d8b2_8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1b0c2a5d6e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1b0c2a5d6e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b27916fc5_6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1b27916fc5_6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a464607c99_2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2a464607c99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a464607c99_2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2a464607c99_2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US" sz="1200">
                <a:solidFill>
                  <a:schemeClr val="dk1"/>
                </a:solidFill>
                <a:latin typeface="Calibri"/>
                <a:ea typeface="Calibri"/>
                <a:cs typeface="Calibri"/>
                <a:sym typeface="Calibri"/>
              </a:rPr>
              <a:t>The misclassification rate for training set reduced to 34.90% and validation set reduced to 38.10%. </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sensitivity is 21.76% for training and 12.20% for validation set.</a:t>
            </a:r>
            <a:endParaRPr sz="1200">
              <a:solidFill>
                <a:schemeClr val="dk1"/>
              </a:solidFill>
              <a:latin typeface="Calibri"/>
              <a:ea typeface="Calibri"/>
              <a:cs typeface="Calibri"/>
              <a:sym typeface="Calibri"/>
            </a:endParaRPr>
          </a:p>
          <a:p>
            <a:pPr indent="-304800" lvl="0" marL="457200" rtl="0" algn="l">
              <a:lnSpc>
                <a:spcPct val="115000"/>
              </a:lnSpc>
              <a:spcBef>
                <a:spcPts val="120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The specificity is 93.27&amp; for training set and 93.75% for validation set.</a:t>
            </a:r>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1afd55de18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31afd55de1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1b0c2a5d6e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1b0c2a5d6e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1b176f8e0e_1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31b176f8e0e_1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3"/>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1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kaggle.com/code/aryantiwari123/supermarket-sales-prediction/inpu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38.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0.png"/><Relationship Id="rId4" Type="http://schemas.openxmlformats.org/officeDocument/2006/relationships/image" Target="../media/image6.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image" Target="../media/image18.png"/><Relationship Id="rId8"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4.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28.png"/><Relationship Id="rId5" Type="http://schemas.openxmlformats.org/officeDocument/2006/relationships/image" Target="../media/image15.png"/><Relationship Id="rId6" Type="http://schemas.openxmlformats.org/officeDocument/2006/relationships/image" Target="../media/image27.png"/><Relationship Id="rId7" Type="http://schemas.openxmlformats.org/officeDocument/2006/relationships/image" Target="../media/image17.png"/><Relationship Id="rId8"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37.png"/><Relationship Id="rId6" Type="http://schemas.openxmlformats.org/officeDocument/2006/relationships/image" Target="../media/image33.png"/><Relationship Id="rId7" Type="http://schemas.openxmlformats.org/officeDocument/2006/relationships/image" Target="../media/image32.png"/><Relationship Id="rId8"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23"/>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 name="Google Shape;85;p23"/>
          <p:cNvSpPr txBox="1"/>
          <p:nvPr>
            <p:ph type="ctrTitle"/>
          </p:nvPr>
        </p:nvSpPr>
        <p:spPr>
          <a:xfrm>
            <a:off x="508750" y="1645213"/>
            <a:ext cx="9711600" cy="24888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SzPts val="1800"/>
              <a:buNone/>
            </a:pPr>
            <a:r>
              <a:rPr b="1" lang="en-US" sz="7200">
                <a:solidFill>
                  <a:srgbClr val="0F243E"/>
                </a:solidFill>
                <a:latin typeface="Times New Roman"/>
                <a:ea typeface="Times New Roman"/>
                <a:cs typeface="Times New Roman"/>
                <a:sym typeface="Times New Roman"/>
              </a:rPr>
              <a:t>Supermarket Sales Analysis</a:t>
            </a:r>
            <a:endParaRPr b="1" sz="7200">
              <a:solidFill>
                <a:srgbClr val="0F243E"/>
              </a:solidFill>
              <a:latin typeface="Times New Roman"/>
              <a:ea typeface="Times New Roman"/>
              <a:cs typeface="Times New Roman"/>
              <a:sym typeface="Times New Roman"/>
            </a:endParaRPr>
          </a:p>
        </p:txBody>
      </p:sp>
      <p:sp>
        <p:nvSpPr>
          <p:cNvPr id="86" name="Google Shape;86;p23"/>
          <p:cNvSpPr txBox="1"/>
          <p:nvPr>
            <p:ph idx="1" type="subTitle"/>
          </p:nvPr>
        </p:nvSpPr>
        <p:spPr>
          <a:xfrm>
            <a:off x="795673" y="6770995"/>
            <a:ext cx="7039200" cy="2828400"/>
          </a:xfrm>
          <a:prstGeom prst="rect">
            <a:avLst/>
          </a:prstGeom>
          <a:noFill/>
          <a:ln>
            <a:noFill/>
          </a:ln>
        </p:spPr>
        <p:txBody>
          <a:bodyPr anchorCtr="0" anchor="t" bIns="45700" lIns="91425" spcFirstLastPara="1" rIns="91425" wrap="square" tIns="45700">
            <a:normAutofit lnSpcReduction="10000"/>
          </a:bodyPr>
          <a:lstStyle/>
          <a:p>
            <a:pPr indent="-431800" lvl="0" marL="457200" rtl="0" algn="l">
              <a:lnSpc>
                <a:spcPct val="100000"/>
              </a:lnSpc>
              <a:spcBef>
                <a:spcPts val="640"/>
              </a:spcBef>
              <a:spcAft>
                <a:spcPts val="0"/>
              </a:spcAft>
              <a:buClr>
                <a:srgbClr val="888888"/>
              </a:buClr>
              <a:buSzPts val="3200"/>
              <a:buNone/>
            </a:pPr>
            <a:r>
              <a:rPr lang="en-US">
                <a:solidFill>
                  <a:srgbClr val="FFFFFF"/>
                </a:solidFill>
              </a:rPr>
              <a:t>Group 8</a:t>
            </a:r>
            <a:endParaRPr>
              <a:solidFill>
                <a:srgbClr val="FFFFFF"/>
              </a:solidFill>
            </a:endParaRPr>
          </a:p>
          <a:p>
            <a:pPr indent="-431800" lvl="0" marL="457200" rtl="0" algn="l">
              <a:lnSpc>
                <a:spcPct val="100000"/>
              </a:lnSpc>
              <a:spcBef>
                <a:spcPts val="640"/>
              </a:spcBef>
              <a:spcAft>
                <a:spcPts val="0"/>
              </a:spcAft>
              <a:buClr>
                <a:srgbClr val="888888"/>
              </a:buClr>
              <a:buSzPts val="3200"/>
              <a:buNone/>
            </a:pPr>
            <a:r>
              <a:rPr lang="en-US">
                <a:solidFill>
                  <a:srgbClr val="FFFFFF"/>
                </a:solidFill>
              </a:rPr>
              <a:t>	Chetan Bandi</a:t>
            </a:r>
            <a:endParaRPr/>
          </a:p>
          <a:p>
            <a:pPr indent="-431800" lvl="0" marL="457200" rtl="0" algn="l">
              <a:lnSpc>
                <a:spcPct val="100000"/>
              </a:lnSpc>
              <a:spcBef>
                <a:spcPts val="640"/>
              </a:spcBef>
              <a:spcAft>
                <a:spcPts val="0"/>
              </a:spcAft>
              <a:buClr>
                <a:srgbClr val="888888"/>
              </a:buClr>
              <a:buSzPts val="3200"/>
              <a:buNone/>
            </a:pPr>
            <a:r>
              <a:rPr lang="en-US">
                <a:solidFill>
                  <a:srgbClr val="FFFFFF"/>
                </a:solidFill>
              </a:rPr>
              <a:t>	Soundarya Bachu</a:t>
            </a:r>
            <a:endParaRPr/>
          </a:p>
          <a:p>
            <a:pPr indent="-431800" lvl="0" marL="457200" rtl="0" algn="l">
              <a:lnSpc>
                <a:spcPct val="100000"/>
              </a:lnSpc>
              <a:spcBef>
                <a:spcPts val="640"/>
              </a:spcBef>
              <a:spcAft>
                <a:spcPts val="0"/>
              </a:spcAft>
              <a:buClr>
                <a:srgbClr val="888888"/>
              </a:buClr>
              <a:buSzPts val="3200"/>
              <a:buNone/>
            </a:pPr>
            <a:r>
              <a:rPr lang="en-US">
                <a:solidFill>
                  <a:srgbClr val="FFFFFF"/>
                </a:solidFill>
              </a:rPr>
              <a:t>	Swati kolpekwar</a:t>
            </a:r>
            <a:endParaRPr/>
          </a:p>
          <a:p>
            <a:pPr indent="-431800" lvl="0" marL="457200" rtl="0" algn="l">
              <a:lnSpc>
                <a:spcPct val="100000"/>
              </a:lnSpc>
              <a:spcBef>
                <a:spcPts val="640"/>
              </a:spcBef>
              <a:spcAft>
                <a:spcPts val="0"/>
              </a:spcAft>
              <a:buClr>
                <a:srgbClr val="888888"/>
              </a:buClr>
              <a:buSzPts val="3200"/>
              <a:buNone/>
            </a:pPr>
            <a:r>
              <a:rPr lang="en-US">
                <a:solidFill>
                  <a:srgbClr val="FFFFFF"/>
                </a:solidFill>
              </a:rPr>
              <a:t>	Vishaka Sharma</a:t>
            </a:r>
            <a:endParaRPr/>
          </a:p>
          <a:p>
            <a:pPr indent="-431800" lvl="0" marL="457200" rtl="0" algn="l">
              <a:lnSpc>
                <a:spcPct val="100000"/>
              </a:lnSpc>
              <a:spcBef>
                <a:spcPts val="640"/>
              </a:spcBef>
              <a:spcAft>
                <a:spcPts val="0"/>
              </a:spcAft>
              <a:buSzPts val="3200"/>
              <a:buNone/>
            </a:pPr>
            <a:r>
              <a:t/>
            </a:r>
            <a:endParaRPr>
              <a:solidFill>
                <a:srgbClr val="FFFFFF"/>
              </a:solidFill>
            </a:endParaRPr>
          </a:p>
        </p:txBody>
      </p:sp>
      <p:sp>
        <p:nvSpPr>
          <p:cNvPr id="87" name="Google Shape;87;p23"/>
          <p:cNvSpPr/>
          <p:nvPr/>
        </p:nvSpPr>
        <p:spPr>
          <a:xfrm flipH="1">
            <a:off x="-3" y="9601195"/>
            <a:ext cx="18288000" cy="685800"/>
          </a:xfrm>
          <a:prstGeom prst="rect">
            <a:avLst/>
          </a:prstGeom>
          <a:gradFill>
            <a:gsLst>
              <a:gs pos="0">
                <a:srgbClr val="000000">
                  <a:alpha val="40392"/>
                </a:srgbClr>
              </a:gs>
              <a:gs pos="79000">
                <a:srgbClr val="366092">
                  <a:alpha val="20000"/>
                </a:srgbClr>
              </a:gs>
              <a:gs pos="100000">
                <a:srgbClr val="366092">
                  <a:alpha val="20000"/>
                </a:srgbClr>
              </a:gs>
            </a:gsLst>
            <a:lin ang="2159386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88" name="Google Shape;88;p23"/>
          <p:cNvPicPr preferRelativeResize="0"/>
          <p:nvPr/>
        </p:nvPicPr>
        <p:blipFill>
          <a:blip r:embed="rId3">
            <a:alphaModFix/>
          </a:blip>
          <a:stretch>
            <a:fillRect/>
          </a:stretch>
        </p:blipFill>
        <p:spPr>
          <a:xfrm>
            <a:off x="152400" y="152400"/>
            <a:ext cx="18288000" cy="10287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85"/>
                                        </p:tgtEl>
                                        <p:attrNameLst>
                                          <p:attrName>style.visibility</p:attrName>
                                        </p:attrNameLst>
                                      </p:cBhvr>
                                      <p:to>
                                        <p:strVal val="visible"/>
                                      </p:to>
                                    </p:set>
                                    <p:animEffect filter="fade" transition="in">
                                      <p:cBhvr>
                                        <p:cTn dur="700"/>
                                        <p:tgtEl>
                                          <p:spTgt spid="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g31b0ca78eb4_0_0"/>
          <p:cNvSpPr/>
          <p:nvPr/>
        </p:nvSpPr>
        <p:spPr>
          <a:xfrm>
            <a:off x="0" y="0"/>
            <a:ext cx="182835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4" name="Google Shape;94;g31b0ca78eb4_0_0"/>
          <p:cNvSpPr txBox="1"/>
          <p:nvPr/>
        </p:nvSpPr>
        <p:spPr>
          <a:xfrm>
            <a:off x="875452" y="638050"/>
            <a:ext cx="13316100" cy="1461600"/>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600"/>
              </a:spcAft>
              <a:buClr>
                <a:srgbClr val="000000"/>
              </a:buClr>
              <a:buSzPts val="6600"/>
              <a:buFont typeface="Arial"/>
              <a:buNone/>
            </a:pPr>
            <a:r>
              <a:rPr b="1" i="0" lang="en-US" sz="6600" u="none" cap="none" strike="noStrike">
                <a:solidFill>
                  <a:srgbClr val="0F243E"/>
                </a:solidFill>
                <a:latin typeface="Calibri"/>
                <a:ea typeface="Calibri"/>
                <a:cs typeface="Calibri"/>
                <a:sym typeface="Calibri"/>
              </a:rPr>
              <a:t>Introduction &amp; Overview</a:t>
            </a:r>
            <a:endParaRPr b="0" i="0" sz="6600" u="none" cap="none" strike="noStrike">
              <a:solidFill>
                <a:srgbClr val="0F243E"/>
              </a:solidFill>
              <a:latin typeface="Calibri"/>
              <a:ea typeface="Calibri"/>
              <a:cs typeface="Calibri"/>
              <a:sym typeface="Calibri"/>
            </a:endParaRPr>
          </a:p>
        </p:txBody>
      </p:sp>
      <p:sp>
        <p:nvSpPr>
          <p:cNvPr id="95" name="Google Shape;95;g31b0ca78eb4_0_0"/>
          <p:cNvSpPr/>
          <p:nvPr/>
        </p:nvSpPr>
        <p:spPr>
          <a:xfrm>
            <a:off x="4714744" y="2318301"/>
            <a:ext cx="5212080" cy="159174"/>
          </a:xfrm>
          <a:custGeom>
            <a:rect b="b" l="l" r="r" t="t"/>
            <a:pathLst>
              <a:path extrusionOk="0" fill="none" h="27432" w="5212080">
                <a:moveTo>
                  <a:pt x="0" y="0"/>
                </a:moveTo>
                <a:cubicBezTo>
                  <a:pt x="128838" y="-11329"/>
                  <a:pt x="306779" y="5198"/>
                  <a:pt x="599389" y="0"/>
                </a:cubicBezTo>
                <a:cubicBezTo>
                  <a:pt x="891999" y="-5198"/>
                  <a:pt x="916635" y="-24425"/>
                  <a:pt x="1198778" y="0"/>
                </a:cubicBezTo>
                <a:cubicBezTo>
                  <a:pt x="1480921" y="24425"/>
                  <a:pt x="1761605" y="-17440"/>
                  <a:pt x="1954530" y="0"/>
                </a:cubicBezTo>
                <a:cubicBezTo>
                  <a:pt x="2147455" y="17440"/>
                  <a:pt x="2239112" y="-16223"/>
                  <a:pt x="2501798" y="0"/>
                </a:cubicBezTo>
                <a:cubicBezTo>
                  <a:pt x="2764484" y="16223"/>
                  <a:pt x="2838074" y="12987"/>
                  <a:pt x="3049067" y="0"/>
                </a:cubicBezTo>
                <a:cubicBezTo>
                  <a:pt x="3260060" y="-12987"/>
                  <a:pt x="3470388" y="-15138"/>
                  <a:pt x="3700577" y="0"/>
                </a:cubicBezTo>
                <a:cubicBezTo>
                  <a:pt x="3930766" y="15138"/>
                  <a:pt x="4052672" y="-14938"/>
                  <a:pt x="4247845" y="0"/>
                </a:cubicBezTo>
                <a:cubicBezTo>
                  <a:pt x="4443018" y="14938"/>
                  <a:pt x="4730158" y="-1623"/>
                  <a:pt x="5212080" y="0"/>
                </a:cubicBezTo>
                <a:cubicBezTo>
                  <a:pt x="5212790" y="9050"/>
                  <a:pt x="5211442" y="21151"/>
                  <a:pt x="5212080" y="27432"/>
                </a:cubicBezTo>
                <a:cubicBezTo>
                  <a:pt x="4991075" y="27722"/>
                  <a:pt x="4932008" y="37429"/>
                  <a:pt x="4664812" y="27432"/>
                </a:cubicBezTo>
                <a:cubicBezTo>
                  <a:pt x="4397616" y="17435"/>
                  <a:pt x="4374940" y="47585"/>
                  <a:pt x="4117543" y="27432"/>
                </a:cubicBezTo>
                <a:cubicBezTo>
                  <a:pt x="3860146" y="7279"/>
                  <a:pt x="3773367" y="36569"/>
                  <a:pt x="3466033" y="27432"/>
                </a:cubicBezTo>
                <a:cubicBezTo>
                  <a:pt x="3158699" y="18296"/>
                  <a:pt x="3137854" y="54523"/>
                  <a:pt x="2918765" y="27432"/>
                </a:cubicBezTo>
                <a:cubicBezTo>
                  <a:pt x="2699676" y="341"/>
                  <a:pt x="2536311" y="13149"/>
                  <a:pt x="2423617" y="27432"/>
                </a:cubicBezTo>
                <a:cubicBezTo>
                  <a:pt x="2310923" y="41715"/>
                  <a:pt x="2021228" y="23141"/>
                  <a:pt x="1772107" y="27432"/>
                </a:cubicBezTo>
                <a:cubicBezTo>
                  <a:pt x="1522986" y="31724"/>
                  <a:pt x="1317107" y="20364"/>
                  <a:pt x="1120597" y="27432"/>
                </a:cubicBezTo>
                <a:cubicBezTo>
                  <a:pt x="924087" y="34501"/>
                  <a:pt x="454536" y="8495"/>
                  <a:pt x="0" y="27432"/>
                </a:cubicBezTo>
                <a:cubicBezTo>
                  <a:pt x="-1228" y="21145"/>
                  <a:pt x="-815" y="8816"/>
                  <a:pt x="0" y="0"/>
                </a:cubicBezTo>
                <a:close/>
              </a:path>
              <a:path extrusionOk="0" h="27432" w="5212080">
                <a:moveTo>
                  <a:pt x="0" y="0"/>
                </a:moveTo>
                <a:cubicBezTo>
                  <a:pt x="233695" y="-764"/>
                  <a:pt x="364103" y="24957"/>
                  <a:pt x="547268" y="0"/>
                </a:cubicBezTo>
                <a:cubicBezTo>
                  <a:pt x="730433" y="-24957"/>
                  <a:pt x="937737" y="-21107"/>
                  <a:pt x="1303020" y="0"/>
                </a:cubicBezTo>
                <a:cubicBezTo>
                  <a:pt x="1668303" y="21107"/>
                  <a:pt x="1620404" y="13071"/>
                  <a:pt x="1798168" y="0"/>
                </a:cubicBezTo>
                <a:cubicBezTo>
                  <a:pt x="1975932" y="-13071"/>
                  <a:pt x="2090998" y="4232"/>
                  <a:pt x="2293315" y="0"/>
                </a:cubicBezTo>
                <a:cubicBezTo>
                  <a:pt x="2495632" y="-4232"/>
                  <a:pt x="2738710" y="-17332"/>
                  <a:pt x="2944825" y="0"/>
                </a:cubicBezTo>
                <a:cubicBezTo>
                  <a:pt x="3150940" y="17332"/>
                  <a:pt x="3308101" y="26665"/>
                  <a:pt x="3544214" y="0"/>
                </a:cubicBezTo>
                <a:cubicBezTo>
                  <a:pt x="3780327" y="-26665"/>
                  <a:pt x="4028425" y="-24303"/>
                  <a:pt x="4247845" y="0"/>
                </a:cubicBezTo>
                <a:cubicBezTo>
                  <a:pt x="4467265" y="24303"/>
                  <a:pt x="4779418" y="33057"/>
                  <a:pt x="5212080" y="0"/>
                </a:cubicBezTo>
                <a:cubicBezTo>
                  <a:pt x="5212137" y="6776"/>
                  <a:pt x="5210915" y="20935"/>
                  <a:pt x="5212080" y="27432"/>
                </a:cubicBezTo>
                <a:cubicBezTo>
                  <a:pt x="4921467" y="60248"/>
                  <a:pt x="4631077" y="62273"/>
                  <a:pt x="4456328" y="27432"/>
                </a:cubicBezTo>
                <a:cubicBezTo>
                  <a:pt x="4281579" y="-7409"/>
                  <a:pt x="4048724" y="47667"/>
                  <a:pt x="3856939" y="27432"/>
                </a:cubicBezTo>
                <a:cubicBezTo>
                  <a:pt x="3665154" y="7197"/>
                  <a:pt x="3498754" y="15866"/>
                  <a:pt x="3257550" y="27432"/>
                </a:cubicBezTo>
                <a:cubicBezTo>
                  <a:pt x="3016346" y="38998"/>
                  <a:pt x="2854089" y="39360"/>
                  <a:pt x="2710282" y="27432"/>
                </a:cubicBezTo>
                <a:cubicBezTo>
                  <a:pt x="2566475" y="15504"/>
                  <a:pt x="2336282" y="56792"/>
                  <a:pt x="2110892" y="27432"/>
                </a:cubicBezTo>
                <a:cubicBezTo>
                  <a:pt x="1885502" y="-1928"/>
                  <a:pt x="1825148" y="42061"/>
                  <a:pt x="1615745" y="27432"/>
                </a:cubicBezTo>
                <a:cubicBezTo>
                  <a:pt x="1406342" y="12803"/>
                  <a:pt x="1193655" y="44031"/>
                  <a:pt x="1016356" y="27432"/>
                </a:cubicBezTo>
                <a:cubicBezTo>
                  <a:pt x="839057" y="10833"/>
                  <a:pt x="292902" y="7819"/>
                  <a:pt x="0" y="27432"/>
                </a:cubicBezTo>
                <a:cubicBezTo>
                  <a:pt x="-234" y="21031"/>
                  <a:pt x="-921" y="6323"/>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 name="Google Shape;96;g31b0ca78eb4_0_0"/>
          <p:cNvSpPr txBox="1"/>
          <p:nvPr/>
        </p:nvSpPr>
        <p:spPr>
          <a:xfrm>
            <a:off x="771175" y="2826875"/>
            <a:ext cx="15331500" cy="6063000"/>
          </a:xfrm>
          <a:prstGeom prst="rect">
            <a:avLst/>
          </a:prstGeom>
          <a:noFill/>
          <a:ln>
            <a:noFill/>
          </a:ln>
        </p:spPr>
        <p:txBody>
          <a:bodyPr anchorCtr="0" anchor="t" bIns="45700" lIns="91425" spcFirstLastPara="1" rIns="91425" wrap="square" tIns="45700">
            <a:normAutofit lnSpcReduction="20000"/>
          </a:bodyPr>
          <a:lstStyle/>
          <a:p>
            <a:pPr indent="0" lvl="0" marL="0" rtl="0" algn="just">
              <a:lnSpc>
                <a:spcPct val="90000"/>
              </a:lnSpc>
              <a:spcBef>
                <a:spcPts val="600"/>
              </a:spcBef>
              <a:spcAft>
                <a:spcPts val="0"/>
              </a:spcAft>
              <a:buClr>
                <a:schemeClr val="dk1"/>
              </a:buClr>
              <a:buSzPts val="2800"/>
              <a:buFont typeface="Arial"/>
              <a:buNone/>
            </a:pPr>
            <a:r>
              <a:rPr b="1" lang="en-US" sz="2400">
                <a:solidFill>
                  <a:schemeClr val="dk1"/>
                </a:solidFill>
                <a:latin typeface="Calibri"/>
                <a:ea typeface="Calibri"/>
                <a:cs typeface="Calibri"/>
                <a:sym typeface="Calibri"/>
              </a:rPr>
              <a:t>Purpose:</a:t>
            </a:r>
            <a:r>
              <a:rPr lang="en-US" sz="2400">
                <a:solidFill>
                  <a:schemeClr val="dk1"/>
                </a:solidFill>
                <a:latin typeface="Calibri"/>
                <a:ea typeface="Calibri"/>
                <a:cs typeface="Calibri"/>
                <a:sym typeface="Calibri"/>
              </a:rPr>
              <a:t> Visualizing the Supermarket sales-data is important to understand the customer-satisfaction level which can impact the profit of the organizations drastically and can help in the development of the marketing strategies that can influence the purchasing behavior of different customer classes.</a:t>
            </a:r>
            <a:endParaRPr sz="2400">
              <a:solidFill>
                <a:schemeClr val="dk1"/>
              </a:solidFill>
              <a:latin typeface="Calibri"/>
              <a:ea typeface="Calibri"/>
              <a:cs typeface="Calibri"/>
              <a:sym typeface="Calibri"/>
            </a:endParaRPr>
          </a:p>
          <a:p>
            <a:pPr indent="0" lvl="0" marL="0" rtl="0" algn="just">
              <a:lnSpc>
                <a:spcPct val="90000"/>
              </a:lnSpc>
              <a:spcBef>
                <a:spcPts val="600"/>
              </a:spcBef>
              <a:spcAft>
                <a:spcPts val="0"/>
              </a:spcAft>
              <a:buClr>
                <a:schemeClr val="dk1"/>
              </a:buClr>
              <a:buSzPts val="2800"/>
              <a:buFont typeface="Arial"/>
              <a:buNone/>
            </a:pPr>
            <a:r>
              <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rPr b="1" lang="en-US" sz="2400">
                <a:solidFill>
                  <a:schemeClr val="dk1"/>
                </a:solidFill>
                <a:latin typeface="Calibri"/>
                <a:ea typeface="Calibri"/>
                <a:cs typeface="Calibri"/>
                <a:sym typeface="Calibri"/>
              </a:rPr>
              <a:t>Dataset: </a:t>
            </a:r>
            <a:r>
              <a:rPr lang="en-US" sz="2400">
                <a:solidFill>
                  <a:schemeClr val="dk1"/>
                </a:solidFill>
                <a:latin typeface="Calibri"/>
                <a:ea typeface="Calibri"/>
                <a:cs typeface="Calibri"/>
                <a:sym typeface="Calibri"/>
              </a:rPr>
              <a:t>1000 observations capturing key metrics like Unit_price, Quantity, Total, Cogs, and  gross_income.</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rPr lang="en-US" sz="2400">
                <a:solidFill>
                  <a:schemeClr val="dk1"/>
                </a:solidFill>
                <a:latin typeface="Calibri"/>
                <a:ea typeface="Calibri"/>
                <a:cs typeface="Calibri"/>
                <a:sym typeface="Calibri"/>
              </a:rPr>
              <a:t>Training set: 80%</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rPr lang="en-US" sz="2400">
                <a:solidFill>
                  <a:schemeClr val="dk1"/>
                </a:solidFill>
                <a:latin typeface="Calibri"/>
                <a:ea typeface="Calibri"/>
                <a:cs typeface="Calibri"/>
                <a:sym typeface="Calibri"/>
              </a:rPr>
              <a:t>Test set: 20%</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rPr b="1" lang="en-US" sz="2400">
                <a:solidFill>
                  <a:schemeClr val="dk1"/>
                </a:solidFill>
                <a:latin typeface="Calibri"/>
                <a:ea typeface="Calibri"/>
                <a:cs typeface="Calibri"/>
                <a:sym typeface="Calibri"/>
              </a:rPr>
              <a:t>Variables: </a:t>
            </a:r>
            <a:r>
              <a:rPr lang="en-US" sz="2400">
                <a:solidFill>
                  <a:schemeClr val="dk1"/>
                </a:solidFill>
                <a:latin typeface="Calibri"/>
                <a:ea typeface="Calibri"/>
                <a:cs typeface="Calibri"/>
                <a:sym typeface="Calibri"/>
              </a:rPr>
              <a:t>Customer_type,Gender ,Product_line, Unit_price, Quantity, Tax, Total, Date, Time, Payment, cogs, gross_income, Rating</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rPr b="1" lang="en-US" sz="2400">
                <a:solidFill>
                  <a:schemeClr val="dk1"/>
                </a:solidFill>
                <a:latin typeface="Calibri"/>
                <a:ea typeface="Calibri"/>
                <a:cs typeface="Calibri"/>
                <a:sym typeface="Calibri"/>
              </a:rPr>
              <a:t>Rating Categorization:</a:t>
            </a:r>
            <a:r>
              <a:rPr lang="en-US" sz="2400">
                <a:solidFill>
                  <a:schemeClr val="dk1"/>
                </a:solidFill>
                <a:latin typeface="Calibri"/>
                <a:ea typeface="Calibri"/>
                <a:cs typeface="Calibri"/>
                <a:sym typeface="Calibri"/>
              </a:rPr>
              <a:t> Rating classified into Low and High satisfaction levels to identify purchase patterns and build predictive models.</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rPr lang="en-US" sz="2400">
                <a:solidFill>
                  <a:schemeClr val="dk1"/>
                </a:solidFill>
                <a:latin typeface="Calibri"/>
                <a:ea typeface="Calibri"/>
                <a:cs typeface="Calibri"/>
                <a:sym typeface="Calibri"/>
              </a:rPr>
              <a:t>Includes quantitative (e.g., gross_income) and categorical (e.g., customer_type, gender) data.</a:t>
            </a:r>
            <a:endParaRPr sz="28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a:p>
            <a:pPr indent="0" lvl="0" marL="0" rtl="0" algn="just">
              <a:lnSpc>
                <a:spcPct val="90000"/>
              </a:lnSpc>
              <a:spcBef>
                <a:spcPts val="0"/>
              </a:spcBef>
              <a:spcAft>
                <a:spcPts val="0"/>
              </a:spcAft>
              <a:buClr>
                <a:schemeClr val="dk1"/>
              </a:buClr>
              <a:buSzPts val="2800"/>
              <a:buFont typeface="Arial"/>
              <a:buNone/>
            </a:pPr>
            <a:r>
              <a:rPr b="1" lang="en-US" sz="2400">
                <a:solidFill>
                  <a:schemeClr val="dk1"/>
                </a:solidFill>
                <a:latin typeface="Calibri"/>
                <a:ea typeface="Calibri"/>
                <a:cs typeface="Calibri"/>
                <a:sym typeface="Calibri"/>
              </a:rPr>
              <a:t>Goal: </a:t>
            </a:r>
            <a:r>
              <a:rPr lang="en-US" sz="2400">
                <a:solidFill>
                  <a:schemeClr val="dk1"/>
                </a:solidFill>
                <a:latin typeface="Calibri"/>
                <a:ea typeface="Calibri"/>
                <a:cs typeface="Calibri"/>
                <a:sym typeface="Calibri"/>
              </a:rPr>
              <a:t>Understand and predict factors influencing customer satisfaction, as reflected in the rating provided by customers. By categorizing ratings into two classes (e.g., High and low satisfaction) .</a:t>
            </a:r>
            <a:endParaRPr sz="24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2800"/>
              <a:buFont typeface="Arial"/>
              <a:buNone/>
            </a:pPr>
            <a:r>
              <a:t/>
            </a:r>
            <a:endParaRPr sz="24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2800"/>
              <a:buFont typeface="Arial"/>
              <a:buNone/>
            </a:pPr>
            <a:r>
              <a:rPr b="1" lang="en-US" sz="2400">
                <a:solidFill>
                  <a:schemeClr val="dk1"/>
                </a:solidFill>
                <a:latin typeface="Calibri"/>
                <a:ea typeface="Calibri"/>
                <a:cs typeface="Calibri"/>
                <a:sym typeface="Calibri"/>
              </a:rPr>
              <a:t>Data source</a:t>
            </a:r>
            <a:r>
              <a:rPr lang="en-US" sz="2400">
                <a:solidFill>
                  <a:schemeClr val="dk1"/>
                </a:solidFill>
                <a:latin typeface="Calibri"/>
                <a:ea typeface="Calibri"/>
                <a:cs typeface="Calibri"/>
                <a:sym typeface="Calibri"/>
              </a:rPr>
              <a:t>: </a:t>
            </a:r>
            <a:r>
              <a:rPr lang="en-US" sz="2400" u="sng">
                <a:solidFill>
                  <a:schemeClr val="hlink"/>
                </a:solidFill>
                <a:latin typeface="Calibri"/>
                <a:ea typeface="Calibri"/>
                <a:cs typeface="Calibri"/>
                <a:sym typeface="Calibri"/>
                <a:hlinkClick r:id="rId3"/>
              </a:rPr>
              <a:t>https://www.kaggle.com/code/aryantiwari123/supermarket-sales-prediction/input</a:t>
            </a:r>
            <a:endParaRPr sz="2400">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2800"/>
              <a:buFont typeface="Arial"/>
              <a:buNone/>
            </a:pPr>
            <a:r>
              <a:t/>
            </a:r>
            <a:endParaRPr sz="2400">
              <a:solidFill>
                <a:schemeClr val="dk1"/>
              </a:solidFill>
              <a:latin typeface="Calibri"/>
              <a:ea typeface="Calibri"/>
              <a:cs typeface="Calibri"/>
              <a:sym typeface="Calibri"/>
            </a:endParaRPr>
          </a:p>
          <a:p>
            <a:pPr indent="0" lvl="0" marL="0" marR="0" rtl="0" algn="just">
              <a:lnSpc>
                <a:spcPct val="90000"/>
              </a:lnSpc>
              <a:spcBef>
                <a:spcPts val="600"/>
              </a:spcBef>
              <a:spcAft>
                <a:spcPts val="600"/>
              </a:spcAft>
              <a:buClr>
                <a:srgbClr val="000000"/>
              </a:buClr>
              <a:buSzPts val="2800"/>
              <a:buFont typeface="Arial"/>
              <a:buNone/>
            </a:pPr>
            <a:r>
              <a:t/>
            </a:r>
            <a:endParaRPr b="1" sz="2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8"/>
          <p:cNvSpPr/>
          <p:nvPr/>
        </p:nvSpPr>
        <p:spPr>
          <a:xfrm>
            <a:off x="166254"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2" name="Google Shape;102;p8"/>
          <p:cNvSpPr txBox="1"/>
          <p:nvPr/>
        </p:nvSpPr>
        <p:spPr>
          <a:xfrm>
            <a:off x="6669595" y="227630"/>
            <a:ext cx="3745299" cy="121333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Clr>
                <a:srgbClr val="000000"/>
              </a:buClr>
              <a:buSzPts val="6000"/>
              <a:buFont typeface="Arial"/>
              <a:buNone/>
            </a:pPr>
            <a:r>
              <a:rPr b="1" i="0" lang="en-US" sz="6000" u="none" cap="none" strike="noStrike">
                <a:solidFill>
                  <a:srgbClr val="0F243E"/>
                </a:solidFill>
                <a:latin typeface="Arial"/>
                <a:ea typeface="Arial"/>
                <a:cs typeface="Arial"/>
                <a:sym typeface="Arial"/>
              </a:rPr>
              <a:t>Plots</a:t>
            </a:r>
            <a:endParaRPr b="0" i="0" sz="6000" u="none" cap="none" strike="noStrike">
              <a:solidFill>
                <a:srgbClr val="0F243E"/>
              </a:solidFill>
              <a:latin typeface="Arial"/>
              <a:ea typeface="Arial"/>
              <a:cs typeface="Arial"/>
              <a:sym typeface="Arial"/>
            </a:endParaRPr>
          </a:p>
        </p:txBody>
      </p:sp>
      <p:sp>
        <p:nvSpPr>
          <p:cNvPr id="103" name="Google Shape;103;p8"/>
          <p:cNvSpPr txBox="1"/>
          <p:nvPr/>
        </p:nvSpPr>
        <p:spPr>
          <a:xfrm>
            <a:off x="1371284" y="1500399"/>
            <a:ext cx="8033975" cy="3200527"/>
          </a:xfrm>
          <a:prstGeom prst="rect">
            <a:avLst/>
          </a:prstGeom>
          <a:noFill/>
          <a:ln>
            <a:noFill/>
          </a:ln>
        </p:spPr>
        <p:txBody>
          <a:bodyPr anchorCtr="0" anchor="ctr" bIns="45700" lIns="91425" spcFirstLastPara="1" rIns="91425" wrap="square" tIns="45700">
            <a:normAutofit/>
          </a:bodyPr>
          <a:lstStyle/>
          <a:p>
            <a:pPr indent="-381000" lvl="0" marL="457200" rtl="0" algn="just">
              <a:lnSpc>
                <a:spcPct val="107000"/>
              </a:lnSpc>
              <a:spcBef>
                <a:spcPts val="0"/>
              </a:spcBef>
              <a:spcAft>
                <a:spcPts val="0"/>
              </a:spcAft>
              <a:buClr>
                <a:schemeClr val="dk1"/>
              </a:buClr>
              <a:buSzPts val="2400"/>
              <a:buFont typeface="Noto Sans Symbols"/>
              <a:buChar char="∙"/>
            </a:pPr>
            <a:r>
              <a:rPr lang="en-US" sz="2400">
                <a:solidFill>
                  <a:schemeClr val="dk1"/>
                </a:solidFill>
                <a:latin typeface="Calibri"/>
                <a:ea typeface="Calibri"/>
                <a:cs typeface="Calibri"/>
                <a:sym typeface="Calibri"/>
              </a:rPr>
              <a:t>The gross-income histogram is right-skewed and also significant number of sale transactions generate income between the range of 0-10 and the transactions generating income between the range of 40-50 is very low.</a:t>
            </a:r>
            <a:endParaRPr>
              <a:solidFill>
                <a:schemeClr val="dk1"/>
              </a:solidFill>
            </a:endParaRPr>
          </a:p>
          <a:p>
            <a:pPr indent="-381000" lvl="0" marL="457200" rtl="0" algn="just">
              <a:lnSpc>
                <a:spcPct val="107000"/>
              </a:lnSpc>
              <a:spcBef>
                <a:spcPts val="0"/>
              </a:spcBef>
              <a:spcAft>
                <a:spcPts val="800"/>
              </a:spcAft>
              <a:buClr>
                <a:schemeClr val="dk1"/>
              </a:buClr>
              <a:buSzPts val="2400"/>
              <a:buFont typeface="Noto Sans Symbols"/>
              <a:buChar char="∙"/>
            </a:pPr>
            <a:r>
              <a:rPr lang="en-US" sz="2400">
                <a:solidFill>
                  <a:schemeClr val="dk1"/>
                </a:solidFill>
                <a:latin typeface="Calibri"/>
                <a:ea typeface="Calibri"/>
                <a:cs typeface="Calibri"/>
                <a:sym typeface="Calibri"/>
              </a:rPr>
              <a:t>The Tax distribution histogram is right-skewed and also most of the tax collected on the sales transaction is between 0-10 and the tax collected 40 on the transactions is merely low.</a:t>
            </a:r>
            <a:endParaRPr sz="2400">
              <a:latin typeface="Calibri"/>
              <a:ea typeface="Calibri"/>
              <a:cs typeface="Calibri"/>
              <a:sym typeface="Calibri"/>
            </a:endParaRPr>
          </a:p>
        </p:txBody>
      </p:sp>
      <p:sp>
        <p:nvSpPr>
          <p:cNvPr id="104" name="Google Shape;104;p8"/>
          <p:cNvSpPr txBox="1"/>
          <p:nvPr/>
        </p:nvSpPr>
        <p:spPr>
          <a:xfrm>
            <a:off x="10030118" y="4882431"/>
            <a:ext cx="7008300" cy="4350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The scatter plots exhibit positive linear relationship between </a:t>
            </a:r>
            <a:r>
              <a:rPr b="1" lang="en-US" sz="2400">
                <a:solidFill>
                  <a:schemeClr val="dk1"/>
                </a:solidFill>
                <a:latin typeface="Calibri"/>
                <a:ea typeface="Calibri"/>
                <a:cs typeface="Calibri"/>
                <a:sym typeface="Calibri"/>
              </a:rPr>
              <a:t>Gross_income</a:t>
            </a:r>
            <a:r>
              <a:rPr lang="en-US" sz="2400">
                <a:solidFill>
                  <a:schemeClr val="dk1"/>
                </a:solidFill>
                <a:latin typeface="Calibri"/>
                <a:ea typeface="Calibri"/>
                <a:cs typeface="Calibri"/>
                <a:sym typeface="Calibri"/>
              </a:rPr>
              <a:t> and </a:t>
            </a:r>
            <a:r>
              <a:rPr b="1" lang="en-US" sz="2400">
                <a:solidFill>
                  <a:schemeClr val="dk1"/>
                </a:solidFill>
                <a:latin typeface="Calibri"/>
                <a:ea typeface="Calibri"/>
                <a:cs typeface="Calibri"/>
                <a:sym typeface="Calibri"/>
              </a:rPr>
              <a:t>Unit_price</a:t>
            </a:r>
            <a:r>
              <a:rPr lang="en-US" sz="2400">
                <a:solidFill>
                  <a:schemeClr val="dk1"/>
                </a:solidFill>
                <a:latin typeface="Calibri"/>
                <a:ea typeface="Calibri"/>
                <a:cs typeface="Calibri"/>
                <a:sym typeface="Calibri"/>
              </a:rPr>
              <a:t>, </a:t>
            </a:r>
            <a:r>
              <a:rPr b="1" lang="en-US" sz="2400">
                <a:solidFill>
                  <a:schemeClr val="dk1"/>
                </a:solidFill>
                <a:latin typeface="Calibri"/>
                <a:ea typeface="Calibri"/>
                <a:cs typeface="Calibri"/>
                <a:sym typeface="Calibri"/>
              </a:rPr>
              <a:t>Tax</a:t>
            </a:r>
            <a:r>
              <a:rPr lang="en-US" sz="2400">
                <a:solidFill>
                  <a:schemeClr val="dk1"/>
                </a:solidFill>
                <a:latin typeface="Calibri"/>
                <a:ea typeface="Calibri"/>
                <a:cs typeface="Calibri"/>
                <a:sym typeface="Calibri"/>
              </a:rPr>
              <a:t>,</a:t>
            </a:r>
            <a:r>
              <a:rPr b="1" lang="en-US" sz="2400">
                <a:solidFill>
                  <a:schemeClr val="dk1"/>
                </a:solidFill>
                <a:latin typeface="Calibri"/>
                <a:ea typeface="Calibri"/>
                <a:cs typeface="Calibri"/>
                <a:sym typeface="Calibri"/>
              </a:rPr>
              <a:t> Quantity </a:t>
            </a:r>
            <a:r>
              <a:rPr lang="en-US" sz="2400">
                <a:solidFill>
                  <a:schemeClr val="dk1"/>
                </a:solidFill>
                <a:latin typeface="Calibri"/>
                <a:ea typeface="Calibri"/>
                <a:cs typeface="Calibri"/>
                <a:sym typeface="Calibri"/>
              </a:rPr>
              <a:t>and </a:t>
            </a:r>
            <a:r>
              <a:rPr b="1" lang="en-US" sz="2400">
                <a:solidFill>
                  <a:schemeClr val="dk1"/>
                </a:solidFill>
                <a:latin typeface="Calibri"/>
                <a:ea typeface="Calibri"/>
                <a:cs typeface="Calibri"/>
                <a:sym typeface="Calibri"/>
              </a:rPr>
              <a:t> Total</a:t>
            </a:r>
            <a:r>
              <a:rPr lang="en-US" sz="2400">
                <a:solidFill>
                  <a:schemeClr val="dk1"/>
                </a:solidFill>
                <a:latin typeface="Calibri"/>
                <a:ea typeface="Calibri"/>
                <a:cs typeface="Calibri"/>
                <a:sym typeface="Calibri"/>
              </a:rPr>
              <a:t>, as expected. Increased Gross_income correlates with higher Unit_price, Tax, Quantity, and Total.</a:t>
            </a:r>
            <a:endParaRPr>
              <a:solidFill>
                <a:schemeClr val="dk1"/>
              </a:solidFill>
            </a:endParaRPr>
          </a:p>
          <a:p>
            <a:pPr indent="0" lvl="0" marL="0" marR="0" rtl="0" algn="l">
              <a:lnSpc>
                <a:spcPct val="100000"/>
              </a:lnSpc>
              <a:spcBef>
                <a:spcPts val="0"/>
              </a:spcBef>
              <a:spcAft>
                <a:spcPts val="0"/>
              </a:spcAft>
              <a:buClr>
                <a:srgbClr val="000000"/>
              </a:buClr>
              <a:buSzPts val="2400"/>
              <a:buFont typeface="Arial"/>
              <a:buNone/>
            </a:pPr>
            <a:r>
              <a:t/>
            </a:r>
            <a:endParaRPr sz="2400">
              <a:latin typeface="Calibri"/>
              <a:ea typeface="Calibri"/>
              <a:cs typeface="Calibri"/>
              <a:sym typeface="Calibri"/>
            </a:endParaRPr>
          </a:p>
        </p:txBody>
      </p:sp>
      <p:pic>
        <p:nvPicPr>
          <p:cNvPr id="105" name="Google Shape;105;p8"/>
          <p:cNvPicPr preferRelativeResize="0"/>
          <p:nvPr/>
        </p:nvPicPr>
        <p:blipFill rotWithShape="1">
          <a:blip r:embed="rId3">
            <a:alphaModFix/>
          </a:blip>
          <a:srcRect b="0" l="0" r="0" t="0"/>
          <a:stretch/>
        </p:blipFill>
        <p:spPr>
          <a:xfrm>
            <a:off x="9811912" y="1636846"/>
            <a:ext cx="4024027" cy="3049706"/>
          </a:xfrm>
          <a:prstGeom prst="rect">
            <a:avLst/>
          </a:prstGeom>
          <a:noFill/>
          <a:ln>
            <a:noFill/>
          </a:ln>
        </p:spPr>
      </p:pic>
      <p:pic>
        <p:nvPicPr>
          <p:cNvPr id="106" name="Google Shape;106;p8"/>
          <p:cNvPicPr preferRelativeResize="0"/>
          <p:nvPr/>
        </p:nvPicPr>
        <p:blipFill rotWithShape="1">
          <a:blip r:embed="rId4">
            <a:alphaModFix/>
          </a:blip>
          <a:srcRect b="0" l="0" r="0" t="0"/>
          <a:stretch/>
        </p:blipFill>
        <p:spPr>
          <a:xfrm>
            <a:off x="14118174" y="1696811"/>
            <a:ext cx="3965944" cy="3032327"/>
          </a:xfrm>
          <a:prstGeom prst="rect">
            <a:avLst/>
          </a:prstGeom>
          <a:noFill/>
          <a:ln>
            <a:noFill/>
          </a:ln>
        </p:spPr>
      </p:pic>
      <p:pic>
        <p:nvPicPr>
          <p:cNvPr id="107" name="Google Shape;107;p8"/>
          <p:cNvPicPr preferRelativeResize="0"/>
          <p:nvPr/>
        </p:nvPicPr>
        <p:blipFill rotWithShape="1">
          <a:blip r:embed="rId5">
            <a:alphaModFix/>
          </a:blip>
          <a:srcRect b="0" l="0" r="0" t="0"/>
          <a:stretch/>
        </p:blipFill>
        <p:spPr>
          <a:xfrm>
            <a:off x="925575" y="4882425"/>
            <a:ext cx="3965949" cy="2296425"/>
          </a:xfrm>
          <a:prstGeom prst="rect">
            <a:avLst/>
          </a:prstGeom>
          <a:noFill/>
          <a:ln>
            <a:noFill/>
          </a:ln>
        </p:spPr>
      </p:pic>
      <p:pic>
        <p:nvPicPr>
          <p:cNvPr id="108" name="Google Shape;108;p8"/>
          <p:cNvPicPr preferRelativeResize="0"/>
          <p:nvPr/>
        </p:nvPicPr>
        <p:blipFill rotWithShape="1">
          <a:blip r:embed="rId6">
            <a:alphaModFix/>
          </a:blip>
          <a:srcRect b="0" l="0" r="0" t="0"/>
          <a:stretch/>
        </p:blipFill>
        <p:spPr>
          <a:xfrm>
            <a:off x="5257800" y="4852275"/>
            <a:ext cx="3713525" cy="2296425"/>
          </a:xfrm>
          <a:prstGeom prst="rect">
            <a:avLst/>
          </a:prstGeom>
          <a:noFill/>
          <a:ln>
            <a:noFill/>
          </a:ln>
        </p:spPr>
      </p:pic>
      <p:pic>
        <p:nvPicPr>
          <p:cNvPr id="109" name="Google Shape;109;p8"/>
          <p:cNvPicPr preferRelativeResize="0"/>
          <p:nvPr/>
        </p:nvPicPr>
        <p:blipFill rotWithShape="1">
          <a:blip r:embed="rId7">
            <a:alphaModFix/>
          </a:blip>
          <a:srcRect b="0" l="0" r="0" t="0"/>
          <a:stretch/>
        </p:blipFill>
        <p:spPr>
          <a:xfrm>
            <a:off x="1221617" y="7450739"/>
            <a:ext cx="3555395" cy="2671724"/>
          </a:xfrm>
          <a:prstGeom prst="rect">
            <a:avLst/>
          </a:prstGeom>
          <a:noFill/>
          <a:ln>
            <a:noFill/>
          </a:ln>
        </p:spPr>
      </p:pic>
      <p:pic>
        <p:nvPicPr>
          <p:cNvPr id="110" name="Google Shape;110;p8"/>
          <p:cNvPicPr preferRelativeResize="0"/>
          <p:nvPr/>
        </p:nvPicPr>
        <p:blipFill rotWithShape="1">
          <a:blip r:embed="rId8">
            <a:alphaModFix/>
          </a:blip>
          <a:srcRect b="0" l="0" r="0" t="0"/>
          <a:stretch/>
        </p:blipFill>
        <p:spPr>
          <a:xfrm>
            <a:off x="5557417" y="7484640"/>
            <a:ext cx="3413902" cy="26039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1"/>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6" name="Google Shape;116;p1"/>
          <p:cNvSpPr txBox="1"/>
          <p:nvPr/>
        </p:nvSpPr>
        <p:spPr>
          <a:xfrm>
            <a:off x="6669595" y="227630"/>
            <a:ext cx="3745299" cy="121333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Clr>
                <a:srgbClr val="000000"/>
              </a:buClr>
              <a:buSzPts val="6000"/>
              <a:buFont typeface="Arial"/>
              <a:buNone/>
            </a:pPr>
            <a:r>
              <a:rPr b="1" i="0" lang="en-US" sz="6000" u="none" cap="none" strike="noStrike">
                <a:solidFill>
                  <a:srgbClr val="0F243E"/>
                </a:solidFill>
                <a:latin typeface="Arial"/>
                <a:ea typeface="Arial"/>
                <a:cs typeface="Arial"/>
                <a:sym typeface="Arial"/>
              </a:rPr>
              <a:t>Plots</a:t>
            </a:r>
            <a:endParaRPr b="0" i="0" sz="6000" u="none" cap="none" strike="noStrike">
              <a:solidFill>
                <a:srgbClr val="0F243E"/>
              </a:solidFill>
              <a:latin typeface="Arial"/>
              <a:ea typeface="Arial"/>
              <a:cs typeface="Arial"/>
              <a:sym typeface="Arial"/>
            </a:endParaRPr>
          </a:p>
        </p:txBody>
      </p:sp>
      <p:sp>
        <p:nvSpPr>
          <p:cNvPr id="117" name="Google Shape;117;p1"/>
          <p:cNvSpPr txBox="1"/>
          <p:nvPr/>
        </p:nvSpPr>
        <p:spPr>
          <a:xfrm>
            <a:off x="498775" y="1268900"/>
            <a:ext cx="10203900" cy="37926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The revenue generated by the Members is  high compared to Normal customers with the median value being </a:t>
            </a:r>
            <a:r>
              <a:rPr lang="en-US" sz="2400">
                <a:solidFill>
                  <a:schemeClr val="dk1"/>
                </a:solidFill>
                <a:latin typeface="Calibri"/>
                <a:ea typeface="Calibri"/>
                <a:cs typeface="Calibri"/>
                <a:sym typeface="Calibri"/>
              </a:rPr>
              <a:t>slightly</a:t>
            </a:r>
            <a:r>
              <a:rPr lang="en-US" sz="2400">
                <a:solidFill>
                  <a:schemeClr val="dk1"/>
                </a:solidFill>
                <a:latin typeface="Calibri"/>
                <a:ea typeface="Calibri"/>
                <a:cs typeface="Calibri"/>
                <a:sym typeface="Calibri"/>
              </a:rPr>
              <a:t> high . Also the mean total being high for members compared to normal visitors. The member and normal customers exhibit positive skewness with the total top whisker being high. But comparatively Normal customers have more </a:t>
            </a:r>
            <a:r>
              <a:rPr b="1" lang="en-US" sz="2400">
                <a:solidFill>
                  <a:schemeClr val="dk1"/>
                </a:solidFill>
                <a:latin typeface="Calibri"/>
                <a:ea typeface="Calibri"/>
                <a:cs typeface="Calibri"/>
                <a:sym typeface="Calibri"/>
              </a:rPr>
              <a:t>outliers</a:t>
            </a:r>
            <a:r>
              <a:rPr lang="en-US" sz="2400">
                <a:solidFill>
                  <a:schemeClr val="dk1"/>
                </a:solidFill>
                <a:latin typeface="Calibri"/>
                <a:ea typeface="Calibri"/>
                <a:cs typeface="Calibri"/>
                <a:sym typeface="Calibri"/>
              </a:rPr>
              <a:t> than members.  </a:t>
            </a:r>
            <a:endParaRPr>
              <a:solidFill>
                <a:schemeClr val="dk1"/>
              </a:solidFill>
            </a:endParaRPr>
          </a:p>
          <a:p>
            <a:pPr indent="0" lvl="0" marL="0" rtl="0" algn="just">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When looking at </a:t>
            </a:r>
            <a:r>
              <a:rPr b="1" lang="en-US" sz="2400">
                <a:solidFill>
                  <a:schemeClr val="dk1"/>
                </a:solidFill>
                <a:latin typeface="Calibri"/>
                <a:ea typeface="Calibri"/>
                <a:cs typeface="Calibri"/>
                <a:sym typeface="Calibri"/>
              </a:rPr>
              <a:t>IQR &amp; Variability</a:t>
            </a:r>
            <a:r>
              <a:rPr lang="en-US" sz="2400">
                <a:solidFill>
                  <a:schemeClr val="dk1"/>
                </a:solidFill>
                <a:latin typeface="Calibri"/>
                <a:ea typeface="Calibri"/>
                <a:cs typeface="Calibri"/>
                <a:sym typeface="Calibri"/>
              </a:rPr>
              <a:t>, members demonstrates greater variability, which reflects more spending among its customers. </a:t>
            </a:r>
            <a:endParaRPr>
              <a:solidFill>
                <a:schemeClr val="dk1"/>
              </a:solidFill>
            </a:endParaRPr>
          </a:p>
          <a:p>
            <a:pPr indent="0" lvl="0" marL="0" marR="0" rtl="0" algn="just">
              <a:lnSpc>
                <a:spcPct val="100000"/>
              </a:lnSpc>
              <a:spcBef>
                <a:spcPts val="0"/>
              </a:spcBef>
              <a:spcAft>
                <a:spcPts val="0"/>
              </a:spcAft>
              <a:buClr>
                <a:srgbClr val="000000"/>
              </a:buClr>
              <a:buSzPts val="2400"/>
              <a:buFont typeface="Arial"/>
              <a:buNone/>
            </a:pPr>
            <a:r>
              <a:t/>
            </a:r>
            <a:endParaRPr sz="2400">
              <a:latin typeface="Calibri"/>
              <a:ea typeface="Calibri"/>
              <a:cs typeface="Calibri"/>
              <a:sym typeface="Calibri"/>
            </a:endParaRPr>
          </a:p>
        </p:txBody>
      </p:sp>
      <p:sp>
        <p:nvSpPr>
          <p:cNvPr id="118" name="Google Shape;118;p1"/>
          <p:cNvSpPr txBox="1"/>
          <p:nvPr/>
        </p:nvSpPr>
        <p:spPr>
          <a:xfrm>
            <a:off x="7302900" y="6302825"/>
            <a:ext cx="10656000" cy="23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The median and mean value of females is </a:t>
            </a:r>
            <a:r>
              <a:rPr lang="en-US" sz="2400">
                <a:solidFill>
                  <a:schemeClr val="dk1"/>
                </a:solidFill>
                <a:latin typeface="Calibri"/>
                <a:ea typeface="Calibri"/>
                <a:cs typeface="Calibri"/>
                <a:sym typeface="Calibri"/>
              </a:rPr>
              <a:t>slightly</a:t>
            </a:r>
            <a:r>
              <a:rPr lang="en-US" sz="2400">
                <a:solidFill>
                  <a:schemeClr val="dk1"/>
                </a:solidFill>
                <a:latin typeface="Calibri"/>
                <a:ea typeface="Calibri"/>
                <a:cs typeface="Calibri"/>
                <a:sym typeface="Calibri"/>
              </a:rPr>
              <a:t> high compared to the median and mean value of males which slightly generates high income compared to males</a:t>
            </a:r>
            <a:r>
              <a:rPr b="1" lang="en-US" sz="2400">
                <a:solidFill>
                  <a:schemeClr val="dk1"/>
                </a:solidFill>
                <a:latin typeface="Calibri"/>
                <a:ea typeface="Calibri"/>
                <a:cs typeface="Calibri"/>
                <a:sym typeface="Calibri"/>
              </a:rPr>
              <a:t>.</a:t>
            </a:r>
            <a:r>
              <a:rPr lang="en-US" sz="2400">
                <a:solidFill>
                  <a:schemeClr val="dk1"/>
                </a:solidFill>
                <a:latin typeface="Calibri"/>
                <a:ea typeface="Calibri"/>
                <a:cs typeface="Calibri"/>
                <a:sym typeface="Calibri"/>
              </a:rPr>
              <a:t> Both the whiskers are right skewed with female whisker being slightly high. Both the categories also demonstrate very similar </a:t>
            </a:r>
            <a:r>
              <a:rPr b="1" lang="en-US" sz="2400">
                <a:solidFill>
                  <a:schemeClr val="dk1"/>
                </a:solidFill>
                <a:latin typeface="Calibri"/>
                <a:ea typeface="Calibri"/>
                <a:cs typeface="Calibri"/>
                <a:sym typeface="Calibri"/>
              </a:rPr>
              <a:t>IQR &amp; Variability.</a:t>
            </a:r>
            <a:endParaRPr b="1" sz="2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sz="2400">
              <a:latin typeface="Calibri"/>
              <a:ea typeface="Calibri"/>
              <a:cs typeface="Calibri"/>
              <a:sym typeface="Calibri"/>
            </a:endParaRPr>
          </a:p>
        </p:txBody>
      </p:sp>
      <p:pic>
        <p:nvPicPr>
          <p:cNvPr id="119" name="Google Shape;119;p1"/>
          <p:cNvPicPr preferRelativeResize="0"/>
          <p:nvPr/>
        </p:nvPicPr>
        <p:blipFill rotWithShape="1">
          <a:blip r:embed="rId3">
            <a:alphaModFix/>
          </a:blip>
          <a:srcRect b="0" l="14410" r="-14410" t="0"/>
          <a:stretch/>
        </p:blipFill>
        <p:spPr>
          <a:xfrm>
            <a:off x="10834175" y="227625"/>
            <a:ext cx="6867675" cy="6075200"/>
          </a:xfrm>
          <a:prstGeom prst="rect">
            <a:avLst/>
          </a:prstGeom>
          <a:noFill/>
          <a:ln>
            <a:noFill/>
          </a:ln>
        </p:spPr>
      </p:pic>
      <p:pic>
        <p:nvPicPr>
          <p:cNvPr id="120" name="Google Shape;120;p1"/>
          <p:cNvPicPr preferRelativeResize="0"/>
          <p:nvPr/>
        </p:nvPicPr>
        <p:blipFill rotWithShape="1">
          <a:blip r:embed="rId4">
            <a:alphaModFix/>
          </a:blip>
          <a:srcRect b="0" l="0" r="0" t="0"/>
          <a:stretch/>
        </p:blipFill>
        <p:spPr>
          <a:xfrm>
            <a:off x="498775" y="4623675"/>
            <a:ext cx="5836550" cy="5335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txBox="1"/>
          <p:nvPr/>
        </p:nvSpPr>
        <p:spPr>
          <a:xfrm>
            <a:off x="1360449" y="334537"/>
            <a:ext cx="5999356" cy="624468"/>
          </a:xfrm>
          <a:prstGeom prst="rect">
            <a:avLst/>
          </a:prstGeom>
          <a:noFill/>
          <a:ln>
            <a:noFill/>
          </a:ln>
        </p:spPr>
        <p:txBody>
          <a:bodyPr anchorCtr="0" anchor="t" bIns="45700" lIns="91425" spcFirstLastPara="1" rIns="91425" wrap="square" tIns="45700">
            <a:normAutofit fontScale="97500"/>
          </a:bodyPr>
          <a:lstStyle/>
          <a:p>
            <a:pPr indent="0" lvl="0" marL="0" marR="0" rtl="0" algn="ctr">
              <a:lnSpc>
                <a:spcPct val="100000"/>
              </a:lnSpc>
              <a:spcBef>
                <a:spcPts val="0"/>
              </a:spcBef>
              <a:spcAft>
                <a:spcPts val="0"/>
              </a:spcAft>
              <a:buClr>
                <a:srgbClr val="000000"/>
              </a:buClr>
              <a:buSzPct val="100000"/>
              <a:buFont typeface="Arial"/>
              <a:buNone/>
            </a:pPr>
            <a:r>
              <a:t/>
            </a:r>
            <a:endParaRPr b="0" i="0" sz="3000" u="none" cap="none" strike="noStrike">
              <a:solidFill>
                <a:srgbClr val="000000"/>
              </a:solidFill>
              <a:latin typeface="Arial"/>
              <a:ea typeface="Arial"/>
              <a:cs typeface="Arial"/>
              <a:sym typeface="Arial"/>
            </a:endParaRPr>
          </a:p>
        </p:txBody>
      </p:sp>
      <p:sp>
        <p:nvSpPr>
          <p:cNvPr id="126" name="Google Shape;126;p4"/>
          <p:cNvSpPr txBox="1"/>
          <p:nvPr/>
        </p:nvSpPr>
        <p:spPr>
          <a:xfrm>
            <a:off x="344675" y="5160225"/>
            <a:ext cx="7425600" cy="4517100"/>
          </a:xfrm>
          <a:prstGeom prst="rect">
            <a:avLst/>
          </a:prstGeom>
          <a:noFill/>
          <a:ln>
            <a:noFill/>
          </a:ln>
        </p:spPr>
        <p:txBody>
          <a:bodyPr anchorCtr="0" anchor="t" bIns="45700" lIns="91425" spcFirstLastPara="1" rIns="91425" wrap="square" tIns="45700">
            <a:spAutoFit/>
          </a:bodyPr>
          <a:lstStyle/>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Looking at the most important features in each Principal component:</a:t>
            </a:r>
            <a:endParaRPr sz="2400">
              <a:solidFill>
                <a:schemeClr val="dk1"/>
              </a:solidFill>
              <a:latin typeface="Calibri"/>
              <a:ea typeface="Calibri"/>
              <a:cs typeface="Calibri"/>
              <a:sym typeface="Calibri"/>
            </a:endParaRPr>
          </a:p>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Prin1- Tax, Total, Cogs and Gross_income</a:t>
            </a:r>
            <a:endParaRPr sz="2400">
              <a:solidFill>
                <a:schemeClr val="dk1"/>
              </a:solidFill>
              <a:latin typeface="Calibri"/>
              <a:ea typeface="Calibri"/>
              <a:cs typeface="Calibri"/>
              <a:sym typeface="Calibri"/>
            </a:endParaRPr>
          </a:p>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Prin2 – Date and Time</a:t>
            </a:r>
            <a:endParaRPr sz="2400">
              <a:solidFill>
                <a:schemeClr val="dk1"/>
              </a:solidFill>
              <a:latin typeface="Calibri"/>
              <a:ea typeface="Calibri"/>
              <a:cs typeface="Calibri"/>
              <a:sym typeface="Calibri"/>
            </a:endParaRPr>
          </a:p>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Prin3 – Quantity</a:t>
            </a:r>
            <a:endParaRPr sz="2400">
              <a:solidFill>
                <a:schemeClr val="dk1"/>
              </a:solidFill>
              <a:latin typeface="Calibri"/>
              <a:ea typeface="Calibri"/>
              <a:cs typeface="Calibri"/>
              <a:sym typeface="Calibri"/>
            </a:endParaRPr>
          </a:p>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Prin4 – Date and Time</a:t>
            </a:r>
            <a:endParaRPr sz="2400">
              <a:solidFill>
                <a:schemeClr val="dk1"/>
              </a:solidFill>
              <a:latin typeface="Calibri"/>
              <a:ea typeface="Calibri"/>
              <a:cs typeface="Calibri"/>
              <a:sym typeface="Calibri"/>
            </a:endParaRPr>
          </a:p>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Prin5 – Quantity</a:t>
            </a:r>
            <a:endParaRPr sz="2400">
              <a:solidFill>
                <a:schemeClr val="dk1"/>
              </a:solidFill>
              <a:latin typeface="Calibri"/>
              <a:ea typeface="Calibri"/>
              <a:cs typeface="Calibri"/>
              <a:sym typeface="Calibri"/>
            </a:endParaRPr>
          </a:p>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Prin6  - Cogs</a:t>
            </a:r>
            <a:endParaRPr>
              <a:solidFill>
                <a:schemeClr val="dk1"/>
              </a:solidFill>
            </a:endParaRPr>
          </a:p>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Prin7 – Gross_income</a:t>
            </a:r>
            <a:endParaRPr sz="2400">
              <a:solidFill>
                <a:schemeClr val="dk1"/>
              </a:solidFill>
              <a:latin typeface="Calibri"/>
              <a:ea typeface="Calibri"/>
              <a:cs typeface="Calibri"/>
              <a:sym typeface="Calibri"/>
            </a:endParaRPr>
          </a:p>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Prin8 – Total and Tax</a:t>
            </a:r>
            <a:endParaRPr>
              <a:solidFill>
                <a:schemeClr val="dk1"/>
              </a:solidFill>
            </a:endParaRPr>
          </a:p>
          <a:p>
            <a:pPr indent="0" lvl="0" marL="0" marR="0" rtl="0" algn="l">
              <a:lnSpc>
                <a:spcPct val="107000"/>
              </a:lnSpc>
              <a:spcBef>
                <a:spcPts val="800"/>
              </a:spcBef>
              <a:spcAft>
                <a:spcPts val="0"/>
              </a:spcAft>
              <a:buClr>
                <a:srgbClr val="000000"/>
              </a:buClr>
              <a:buSzPts val="2400"/>
              <a:buFont typeface="Arial"/>
              <a:buNone/>
            </a:pPr>
            <a:r>
              <a:t/>
            </a:r>
            <a:endParaRPr sz="2400">
              <a:latin typeface="Calibri"/>
              <a:ea typeface="Calibri"/>
              <a:cs typeface="Calibri"/>
              <a:sym typeface="Calibri"/>
            </a:endParaRPr>
          </a:p>
        </p:txBody>
      </p:sp>
      <p:sp>
        <p:nvSpPr>
          <p:cNvPr id="127" name="Google Shape;127;p4"/>
          <p:cNvSpPr txBox="1"/>
          <p:nvPr/>
        </p:nvSpPr>
        <p:spPr>
          <a:xfrm>
            <a:off x="497750" y="1468170"/>
            <a:ext cx="6568200" cy="3726600"/>
          </a:xfrm>
          <a:prstGeom prst="rect">
            <a:avLst/>
          </a:prstGeom>
          <a:noFill/>
          <a:ln>
            <a:noFill/>
          </a:ln>
        </p:spPr>
        <p:txBody>
          <a:bodyPr anchorCtr="0" anchor="t" bIns="45700" lIns="91425" spcFirstLastPara="1" rIns="91425" wrap="square" tIns="45700">
            <a:spAutoFit/>
          </a:bodyPr>
          <a:lstStyle/>
          <a:p>
            <a:pPr indent="0" lvl="0" marL="0" rtl="0" algn="l">
              <a:lnSpc>
                <a:spcPct val="107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Looking at the above PCA analysis Correlation would be better as the variables are measured in different units.</a:t>
            </a:r>
            <a:endParaRPr sz="2400">
              <a:solidFill>
                <a:schemeClr val="dk1"/>
              </a:solidFill>
              <a:latin typeface="Calibri"/>
              <a:ea typeface="Calibri"/>
              <a:cs typeface="Calibri"/>
              <a:sym typeface="Calibri"/>
            </a:endParaRPr>
          </a:p>
          <a:p>
            <a:pPr indent="0" lvl="0" marL="0" rtl="0" algn="l">
              <a:lnSpc>
                <a:spcPct val="107000"/>
              </a:lnSpc>
              <a:spcBef>
                <a:spcPts val="800"/>
              </a:spcBef>
              <a:spcAft>
                <a:spcPts val="0"/>
              </a:spcAft>
              <a:buClr>
                <a:schemeClr val="dk1"/>
              </a:buClr>
              <a:buSzPts val="2400"/>
              <a:buFont typeface="Arial"/>
              <a:buNone/>
            </a:pPr>
            <a:r>
              <a:rPr lang="en-US" sz="2400">
                <a:solidFill>
                  <a:schemeClr val="dk1"/>
                </a:solidFill>
                <a:latin typeface="Calibri"/>
                <a:ea typeface="Calibri"/>
                <a:cs typeface="Calibri"/>
                <a:sym typeface="Calibri"/>
              </a:rPr>
              <a:t>Looking at the Eigenvalues the first principal component accounts 61% of the data variability and the second Principal component accounts for 13% of the data variability and 86% of the variability is explained in the first three principal components only.</a:t>
            </a:r>
            <a:endParaRPr sz="2400">
              <a:latin typeface="Calibri"/>
              <a:ea typeface="Calibri"/>
              <a:cs typeface="Calibri"/>
              <a:sym typeface="Calibri"/>
            </a:endParaRPr>
          </a:p>
        </p:txBody>
      </p:sp>
      <p:sp>
        <p:nvSpPr>
          <p:cNvPr id="128" name="Google Shape;128;p4"/>
          <p:cNvSpPr txBox="1"/>
          <p:nvPr/>
        </p:nvSpPr>
        <p:spPr>
          <a:xfrm>
            <a:off x="497750" y="646771"/>
            <a:ext cx="14048509" cy="1213339"/>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6000"/>
              <a:buFont typeface="Arial"/>
              <a:buNone/>
            </a:pPr>
            <a:r>
              <a:rPr b="1" i="0" lang="en-US" sz="6000" u="none" cap="none" strike="noStrike">
                <a:solidFill>
                  <a:srgbClr val="0F243E"/>
                </a:solidFill>
                <a:latin typeface="Calibri"/>
                <a:ea typeface="Calibri"/>
                <a:cs typeface="Calibri"/>
                <a:sym typeface="Calibri"/>
              </a:rPr>
              <a:t>Principal Component Analysis</a:t>
            </a:r>
            <a:endParaRPr i="0" sz="6000" u="none" cap="none" strike="noStrike">
              <a:solidFill>
                <a:srgbClr val="000000"/>
              </a:solidFill>
              <a:latin typeface="Calibri"/>
              <a:ea typeface="Calibri"/>
              <a:cs typeface="Calibri"/>
              <a:sym typeface="Calibri"/>
            </a:endParaRPr>
          </a:p>
          <a:p>
            <a:pPr indent="0" lvl="0" marL="0" marR="0" rtl="0" algn="l">
              <a:lnSpc>
                <a:spcPct val="90000"/>
              </a:lnSpc>
              <a:spcBef>
                <a:spcPts val="600"/>
              </a:spcBef>
              <a:spcAft>
                <a:spcPts val="600"/>
              </a:spcAft>
              <a:buClr>
                <a:srgbClr val="000000"/>
              </a:buClr>
              <a:buSzPts val="6000"/>
              <a:buFont typeface="Arial"/>
              <a:buNone/>
            </a:pPr>
            <a:r>
              <a:t/>
            </a:r>
            <a:endParaRPr i="0" sz="6000" u="none" cap="none" strike="noStrike">
              <a:solidFill>
                <a:srgbClr val="0F243E"/>
              </a:solidFill>
              <a:latin typeface="Calibri"/>
              <a:ea typeface="Calibri"/>
              <a:cs typeface="Calibri"/>
              <a:sym typeface="Calibri"/>
            </a:endParaRPr>
          </a:p>
        </p:txBody>
      </p:sp>
      <p:pic>
        <p:nvPicPr>
          <p:cNvPr id="129" name="Google Shape;129;p4"/>
          <p:cNvPicPr preferRelativeResize="0"/>
          <p:nvPr/>
        </p:nvPicPr>
        <p:blipFill rotWithShape="1">
          <a:blip r:embed="rId3">
            <a:alphaModFix/>
          </a:blip>
          <a:srcRect b="0" l="0" r="0" t="0"/>
          <a:stretch/>
        </p:blipFill>
        <p:spPr>
          <a:xfrm>
            <a:off x="7496375" y="1203800"/>
            <a:ext cx="10607024" cy="8473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g31b3332d8b2_8_0"/>
          <p:cNvSpPr/>
          <p:nvPr/>
        </p:nvSpPr>
        <p:spPr>
          <a:xfrm>
            <a:off x="2287" y="-786775"/>
            <a:ext cx="182835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5" name="Google Shape;135;g31b3332d8b2_8_0"/>
          <p:cNvSpPr txBox="1"/>
          <p:nvPr>
            <p:ph type="ctrTitle"/>
          </p:nvPr>
        </p:nvSpPr>
        <p:spPr>
          <a:xfrm>
            <a:off x="839650" y="361575"/>
            <a:ext cx="6471300" cy="1140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6000">
                <a:solidFill>
                  <a:srgbClr val="0F243E"/>
                </a:solidFill>
              </a:rPr>
              <a:t>Models</a:t>
            </a:r>
            <a:endParaRPr/>
          </a:p>
        </p:txBody>
      </p:sp>
      <p:sp>
        <p:nvSpPr>
          <p:cNvPr id="136" name="Google Shape;136;g31b3332d8b2_8_0"/>
          <p:cNvSpPr txBox="1"/>
          <p:nvPr>
            <p:ph idx="1" type="subTitle"/>
          </p:nvPr>
        </p:nvSpPr>
        <p:spPr>
          <a:xfrm>
            <a:off x="919800" y="1997900"/>
            <a:ext cx="11938200" cy="5512200"/>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rgbClr val="0F243E"/>
              </a:buClr>
              <a:buSzPts val="4500"/>
              <a:buChar char="❖"/>
            </a:pPr>
            <a:r>
              <a:rPr b="1" lang="en-US" sz="4500">
                <a:solidFill>
                  <a:srgbClr val="0F243E"/>
                </a:solidFill>
              </a:rPr>
              <a:t>Logistic Regression</a:t>
            </a:r>
            <a:endParaRPr b="1" sz="4500">
              <a:solidFill>
                <a:srgbClr val="0F243E"/>
              </a:solidFill>
            </a:endParaRPr>
          </a:p>
          <a:p>
            <a:pPr indent="-457200" lvl="0" marL="457200" rtl="0" algn="l">
              <a:lnSpc>
                <a:spcPct val="100000"/>
              </a:lnSpc>
              <a:spcBef>
                <a:spcPts val="0"/>
              </a:spcBef>
              <a:spcAft>
                <a:spcPts val="0"/>
              </a:spcAft>
              <a:buClr>
                <a:schemeClr val="dk1"/>
              </a:buClr>
              <a:buSzPts val="4500"/>
              <a:buChar char="❖"/>
            </a:pPr>
            <a:r>
              <a:rPr b="1" lang="en-US" sz="4500">
                <a:solidFill>
                  <a:schemeClr val="dk1"/>
                </a:solidFill>
              </a:rPr>
              <a:t>CART </a:t>
            </a:r>
            <a:endParaRPr b="1" sz="4500">
              <a:solidFill>
                <a:schemeClr val="dk1"/>
              </a:solidFill>
            </a:endParaRPr>
          </a:p>
          <a:p>
            <a:pPr indent="-457200" lvl="0" marL="457200" rtl="0" algn="l">
              <a:lnSpc>
                <a:spcPct val="100000"/>
              </a:lnSpc>
              <a:spcBef>
                <a:spcPts val="0"/>
              </a:spcBef>
              <a:spcAft>
                <a:spcPts val="0"/>
              </a:spcAft>
              <a:buClr>
                <a:srgbClr val="0F243E"/>
              </a:buClr>
              <a:buSzPts val="4500"/>
              <a:buChar char="❖"/>
            </a:pPr>
            <a:r>
              <a:rPr b="1" lang="en-US" sz="4500">
                <a:solidFill>
                  <a:srgbClr val="0F243E"/>
                </a:solidFill>
              </a:rPr>
              <a:t>Neural Networks</a:t>
            </a:r>
            <a:endParaRPr b="1" sz="4500">
              <a:solidFill>
                <a:srgbClr val="0F243E"/>
              </a:solidFill>
            </a:endParaRPr>
          </a:p>
          <a:p>
            <a:pPr indent="-457200" lvl="0" marL="457200" rtl="0" algn="l">
              <a:lnSpc>
                <a:spcPct val="100000"/>
              </a:lnSpc>
              <a:spcBef>
                <a:spcPts val="0"/>
              </a:spcBef>
              <a:spcAft>
                <a:spcPts val="0"/>
              </a:spcAft>
              <a:buClr>
                <a:srgbClr val="0F243E"/>
              </a:buClr>
              <a:buSzPts val="4500"/>
              <a:buChar char="❖"/>
            </a:pPr>
            <a:r>
              <a:rPr b="1" lang="en-US" sz="4500">
                <a:solidFill>
                  <a:srgbClr val="0F243E"/>
                </a:solidFill>
              </a:rPr>
              <a:t>Discriminant Analysis</a:t>
            </a:r>
            <a:endParaRPr b="1" sz="4500">
              <a:solidFill>
                <a:srgbClr val="0F243E"/>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35"/>
                                        </p:tgtEl>
                                        <p:attrNameLst>
                                          <p:attrName>style.visibility</p:attrName>
                                        </p:attrNameLst>
                                      </p:cBhvr>
                                      <p:to>
                                        <p:strVal val="visible"/>
                                      </p:to>
                                    </p:set>
                                    <p:animEffect filter="fade" transition="in">
                                      <p:cBhvr>
                                        <p:cTn dur="7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 name="Shape 140"/>
        <p:cNvGrpSpPr/>
        <p:nvPr/>
      </p:nvGrpSpPr>
      <p:grpSpPr>
        <a:xfrm>
          <a:off x="0" y="0"/>
          <a:ext cx="0" cy="0"/>
          <a:chOff x="0" y="0"/>
          <a:chExt cx="0" cy="0"/>
        </a:xfrm>
      </p:grpSpPr>
      <p:sp>
        <p:nvSpPr>
          <p:cNvPr id="141" name="Google Shape;141;p9"/>
          <p:cNvSpPr/>
          <p:nvPr/>
        </p:nvSpPr>
        <p:spPr>
          <a:xfrm>
            <a:off x="2287" y="-786775"/>
            <a:ext cx="182835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2" name="Google Shape;142;p9"/>
          <p:cNvSpPr txBox="1"/>
          <p:nvPr>
            <p:ph type="ctrTitle"/>
          </p:nvPr>
        </p:nvSpPr>
        <p:spPr>
          <a:xfrm>
            <a:off x="387675" y="0"/>
            <a:ext cx="6471300" cy="1140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6000">
                <a:solidFill>
                  <a:srgbClr val="0F243E"/>
                </a:solidFill>
              </a:rPr>
              <a:t>Logistic Regression</a:t>
            </a:r>
            <a:endParaRPr/>
          </a:p>
        </p:txBody>
      </p:sp>
      <p:sp>
        <p:nvSpPr>
          <p:cNvPr id="143" name="Google Shape;143;p9"/>
          <p:cNvSpPr txBox="1"/>
          <p:nvPr>
            <p:ph idx="1" type="subTitle"/>
          </p:nvPr>
        </p:nvSpPr>
        <p:spPr>
          <a:xfrm>
            <a:off x="883625" y="7688450"/>
            <a:ext cx="16074000" cy="2464500"/>
          </a:xfrm>
          <a:prstGeom prst="rect">
            <a:avLst/>
          </a:prstGeom>
          <a:noFill/>
          <a:ln>
            <a:noFill/>
          </a:ln>
        </p:spPr>
        <p:txBody>
          <a:bodyPr anchorCtr="0" anchor="t" bIns="45700" lIns="91425" spcFirstLastPara="1" rIns="91425" wrap="square" tIns="45700">
            <a:noAutofit/>
          </a:bodyPr>
          <a:lstStyle/>
          <a:p>
            <a:pPr indent="-431800" lvl="0" marL="457200" rtl="0" algn="l">
              <a:lnSpc>
                <a:spcPct val="80000"/>
              </a:lnSpc>
              <a:spcBef>
                <a:spcPts val="640"/>
              </a:spcBef>
              <a:spcAft>
                <a:spcPts val="0"/>
              </a:spcAft>
              <a:buSzPts val="2480"/>
              <a:buNone/>
            </a:pPr>
            <a:r>
              <a:rPr lang="en-US" sz="2400">
                <a:solidFill>
                  <a:srgbClr val="000000"/>
                </a:solidFill>
                <a:latin typeface="Calibri"/>
                <a:ea typeface="Calibri"/>
                <a:cs typeface="Calibri"/>
                <a:sym typeface="Calibri"/>
              </a:rPr>
              <a:t>Odds Ratio Estimate for Is_</a:t>
            </a:r>
            <a:r>
              <a:rPr lang="en-US" sz="2400">
                <a:solidFill>
                  <a:srgbClr val="000000"/>
                </a:solidFill>
              </a:rPr>
              <a:t>Member i</a:t>
            </a:r>
            <a:r>
              <a:rPr lang="en-US" sz="2400">
                <a:solidFill>
                  <a:srgbClr val="000000"/>
                </a:solidFill>
                <a:latin typeface="Calibri"/>
                <a:ea typeface="Calibri"/>
                <a:cs typeface="Calibri"/>
                <a:sym typeface="Calibri"/>
              </a:rPr>
              <a:t>s </a:t>
            </a:r>
            <a:r>
              <a:rPr lang="en-US" sz="2400">
                <a:solidFill>
                  <a:srgbClr val="000000"/>
                </a:solidFill>
              </a:rPr>
              <a:t>0.981</a:t>
            </a:r>
            <a:r>
              <a:rPr lang="en-US" sz="2400">
                <a:solidFill>
                  <a:srgbClr val="000000"/>
                </a:solidFill>
                <a:latin typeface="Calibri"/>
                <a:ea typeface="Calibri"/>
                <a:cs typeface="Calibri"/>
                <a:sym typeface="Calibri"/>
              </a:rPr>
              <a:t>, The odds of </a:t>
            </a:r>
            <a:r>
              <a:rPr lang="en-US" sz="2400">
                <a:solidFill>
                  <a:srgbClr val="000000"/>
                </a:solidFill>
              </a:rPr>
              <a:t>having rating one </a:t>
            </a:r>
            <a:r>
              <a:rPr lang="en-US" sz="2400">
                <a:solidFill>
                  <a:srgbClr val="000000"/>
                </a:solidFill>
                <a:latin typeface="Calibri"/>
                <a:ea typeface="Calibri"/>
                <a:cs typeface="Calibri"/>
                <a:sym typeface="Calibri"/>
              </a:rPr>
              <a:t>is </a:t>
            </a:r>
            <a:r>
              <a:rPr lang="en-US" sz="2400">
                <a:solidFill>
                  <a:srgbClr val="000000"/>
                </a:solidFill>
              </a:rPr>
              <a:t>2</a:t>
            </a:r>
            <a:r>
              <a:rPr lang="en-US" sz="2400">
                <a:solidFill>
                  <a:srgbClr val="000000"/>
                </a:solidFill>
                <a:latin typeface="Calibri"/>
                <a:ea typeface="Calibri"/>
                <a:cs typeface="Calibri"/>
                <a:sym typeface="Calibri"/>
              </a:rPr>
              <a:t>% </a:t>
            </a:r>
            <a:r>
              <a:rPr lang="en-US" sz="2400">
                <a:solidFill>
                  <a:srgbClr val="000000"/>
                </a:solidFill>
              </a:rPr>
              <a:t>lower</a:t>
            </a:r>
            <a:r>
              <a:rPr lang="en-US" sz="2400">
                <a:solidFill>
                  <a:srgbClr val="000000"/>
                </a:solidFill>
                <a:latin typeface="Calibri"/>
                <a:ea typeface="Calibri"/>
                <a:cs typeface="Calibri"/>
                <a:sym typeface="Calibri"/>
              </a:rPr>
              <a:t> </a:t>
            </a:r>
            <a:r>
              <a:rPr lang="en-US" sz="2400">
                <a:solidFill>
                  <a:srgbClr val="000000"/>
                </a:solidFill>
              </a:rPr>
              <a:t>if the customer is member of the supermarket.</a:t>
            </a:r>
            <a:endParaRPr sz="2400">
              <a:solidFill>
                <a:srgbClr val="000000"/>
              </a:solidFill>
              <a:latin typeface="Calibri"/>
              <a:ea typeface="Calibri"/>
              <a:cs typeface="Calibri"/>
              <a:sym typeface="Calibri"/>
            </a:endParaRPr>
          </a:p>
          <a:p>
            <a:pPr indent="-431800" lvl="0" marL="457200" rtl="0" algn="l">
              <a:lnSpc>
                <a:spcPct val="80000"/>
              </a:lnSpc>
              <a:spcBef>
                <a:spcPts val="640"/>
              </a:spcBef>
              <a:spcAft>
                <a:spcPts val="0"/>
              </a:spcAft>
              <a:buSzPts val="2480"/>
              <a:buNone/>
            </a:pPr>
            <a:r>
              <a:t/>
            </a:r>
            <a:endParaRPr sz="2400">
              <a:solidFill>
                <a:srgbClr val="000000"/>
              </a:solidFill>
            </a:endParaRPr>
          </a:p>
          <a:p>
            <a:pPr indent="-431800" lvl="0" marL="457200" rtl="0" algn="l">
              <a:lnSpc>
                <a:spcPct val="80000"/>
              </a:lnSpc>
              <a:spcBef>
                <a:spcPts val="640"/>
              </a:spcBef>
              <a:spcAft>
                <a:spcPts val="0"/>
              </a:spcAft>
              <a:buSzPts val="2480"/>
              <a:buNone/>
            </a:pPr>
            <a:r>
              <a:rPr lang="en-US" sz="2400">
                <a:solidFill>
                  <a:srgbClr val="000000"/>
                </a:solidFill>
                <a:latin typeface="Calibri"/>
                <a:ea typeface="Calibri"/>
                <a:cs typeface="Calibri"/>
                <a:sym typeface="Calibri"/>
              </a:rPr>
              <a:t>Odds Ratio Estimate for </a:t>
            </a:r>
            <a:r>
              <a:rPr lang="en-US" sz="2400">
                <a:solidFill>
                  <a:srgbClr val="000000"/>
                </a:solidFill>
              </a:rPr>
              <a:t>Is_Product_Line_HB </a:t>
            </a:r>
            <a:r>
              <a:rPr lang="en-US" sz="2400">
                <a:solidFill>
                  <a:srgbClr val="000000"/>
                </a:solidFill>
                <a:latin typeface="Calibri"/>
                <a:ea typeface="Calibri"/>
                <a:cs typeface="Calibri"/>
                <a:sym typeface="Calibri"/>
              </a:rPr>
              <a:t> is </a:t>
            </a:r>
            <a:r>
              <a:rPr lang="en-US" sz="2400">
                <a:solidFill>
                  <a:srgbClr val="000000"/>
                </a:solidFill>
              </a:rPr>
              <a:t>1.127</a:t>
            </a:r>
            <a:r>
              <a:rPr lang="en-US" sz="2400">
                <a:solidFill>
                  <a:srgbClr val="000000"/>
                </a:solidFill>
                <a:latin typeface="Calibri"/>
                <a:ea typeface="Calibri"/>
                <a:cs typeface="Calibri"/>
                <a:sym typeface="Calibri"/>
              </a:rPr>
              <a:t>, The odds </a:t>
            </a:r>
            <a:r>
              <a:rPr lang="en-US" sz="2400">
                <a:solidFill>
                  <a:schemeClr val="dk1"/>
                </a:solidFill>
              </a:rPr>
              <a:t>of having rating one</a:t>
            </a:r>
            <a:r>
              <a:rPr lang="en-US" sz="2400">
                <a:solidFill>
                  <a:srgbClr val="000000"/>
                </a:solidFill>
                <a:latin typeface="Calibri"/>
                <a:ea typeface="Calibri"/>
                <a:cs typeface="Calibri"/>
                <a:sym typeface="Calibri"/>
              </a:rPr>
              <a:t> is </a:t>
            </a:r>
            <a:r>
              <a:rPr lang="en-US" sz="2400">
                <a:solidFill>
                  <a:srgbClr val="000000"/>
                </a:solidFill>
              </a:rPr>
              <a:t>12.7</a:t>
            </a:r>
            <a:r>
              <a:rPr lang="en-US" sz="2400">
                <a:solidFill>
                  <a:srgbClr val="000000"/>
                </a:solidFill>
                <a:latin typeface="Calibri"/>
                <a:ea typeface="Calibri"/>
                <a:cs typeface="Calibri"/>
                <a:sym typeface="Calibri"/>
              </a:rPr>
              <a:t>% higher </a:t>
            </a:r>
            <a:r>
              <a:rPr lang="en-US" sz="2400">
                <a:solidFill>
                  <a:srgbClr val="000000"/>
                </a:solidFill>
              </a:rPr>
              <a:t>for health and beauty compared to the default Fashion accessories product line.</a:t>
            </a:r>
            <a:endParaRPr sz="2400">
              <a:solidFill>
                <a:srgbClr val="000000"/>
              </a:solidFill>
              <a:latin typeface="Calibri"/>
              <a:ea typeface="Calibri"/>
              <a:cs typeface="Calibri"/>
              <a:sym typeface="Calibri"/>
            </a:endParaRPr>
          </a:p>
        </p:txBody>
      </p:sp>
      <p:pic>
        <p:nvPicPr>
          <p:cNvPr id="144" name="Google Shape;144;p9"/>
          <p:cNvPicPr preferRelativeResize="0"/>
          <p:nvPr/>
        </p:nvPicPr>
        <p:blipFill rotWithShape="1">
          <a:blip r:embed="rId3">
            <a:alphaModFix/>
          </a:blip>
          <a:srcRect b="0" l="0" r="0" t="0"/>
          <a:stretch/>
        </p:blipFill>
        <p:spPr>
          <a:xfrm>
            <a:off x="1771350" y="1450000"/>
            <a:ext cx="4124475" cy="3532775"/>
          </a:xfrm>
          <a:prstGeom prst="rect">
            <a:avLst/>
          </a:prstGeom>
          <a:noFill/>
          <a:ln>
            <a:noFill/>
          </a:ln>
        </p:spPr>
      </p:pic>
      <p:pic>
        <p:nvPicPr>
          <p:cNvPr id="145" name="Google Shape;145;p9"/>
          <p:cNvPicPr preferRelativeResize="0"/>
          <p:nvPr/>
        </p:nvPicPr>
        <p:blipFill rotWithShape="1">
          <a:blip r:embed="rId4">
            <a:alphaModFix/>
          </a:blip>
          <a:srcRect b="0" l="0" r="0" t="0"/>
          <a:stretch/>
        </p:blipFill>
        <p:spPr>
          <a:xfrm>
            <a:off x="6544725" y="1450000"/>
            <a:ext cx="5198556" cy="5325350"/>
          </a:xfrm>
          <a:prstGeom prst="rect">
            <a:avLst/>
          </a:prstGeom>
          <a:noFill/>
          <a:ln>
            <a:noFill/>
          </a:ln>
        </p:spPr>
      </p:pic>
      <p:pic>
        <p:nvPicPr>
          <p:cNvPr id="146" name="Google Shape;146;p9"/>
          <p:cNvPicPr preferRelativeResize="0"/>
          <p:nvPr/>
        </p:nvPicPr>
        <p:blipFill rotWithShape="1">
          <a:blip r:embed="rId5">
            <a:alphaModFix/>
          </a:blip>
          <a:srcRect b="0" l="0" r="0" t="0"/>
          <a:stretch/>
        </p:blipFill>
        <p:spPr>
          <a:xfrm>
            <a:off x="12392175" y="1462075"/>
            <a:ext cx="5372100" cy="5900738"/>
          </a:xfrm>
          <a:prstGeom prst="rect">
            <a:avLst/>
          </a:prstGeom>
          <a:solidFill>
            <a:schemeClr val="lt1"/>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42"/>
                                        </p:tgtEl>
                                        <p:attrNameLst>
                                          <p:attrName>style.visibility</p:attrName>
                                        </p:attrNameLst>
                                      </p:cBhvr>
                                      <p:to>
                                        <p:strVal val="visible"/>
                                      </p:to>
                                    </p:set>
                                    <p:animEffect filter="fade" transition="in">
                                      <p:cBhvr>
                                        <p:cTn dur="7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p3"/>
          <p:cNvSpPr/>
          <p:nvPr/>
        </p:nvSpPr>
        <p:spPr>
          <a:xfrm>
            <a:off x="-290676" y="50950"/>
            <a:ext cx="182835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2" name="Google Shape;152;p3"/>
          <p:cNvSpPr txBox="1"/>
          <p:nvPr>
            <p:ph type="ctrTitle"/>
          </p:nvPr>
        </p:nvSpPr>
        <p:spPr>
          <a:xfrm>
            <a:off x="334100" y="483950"/>
            <a:ext cx="6471300" cy="98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6000">
                <a:solidFill>
                  <a:srgbClr val="0F243E"/>
                </a:solidFill>
              </a:rPr>
              <a:t>Logistic Regression</a:t>
            </a:r>
            <a:endParaRPr/>
          </a:p>
        </p:txBody>
      </p:sp>
      <p:sp>
        <p:nvSpPr>
          <p:cNvPr id="153" name="Google Shape;153;p3"/>
          <p:cNvSpPr txBox="1"/>
          <p:nvPr/>
        </p:nvSpPr>
        <p:spPr>
          <a:xfrm>
            <a:off x="334100" y="2751000"/>
            <a:ext cx="6284100" cy="1542000"/>
          </a:xfrm>
          <a:prstGeom prst="rect">
            <a:avLst/>
          </a:prstGeom>
          <a:noFill/>
          <a:ln>
            <a:noFill/>
          </a:ln>
        </p:spPr>
        <p:txBody>
          <a:bodyPr anchorCtr="0" anchor="ctr" bIns="45700" lIns="91425" spcFirstLastPara="1" rIns="91425" wrap="square" tIns="45700">
            <a:normAutofit/>
          </a:bodyPr>
          <a:lstStyle/>
          <a:p>
            <a:pPr indent="-381000" lvl="0" marL="457200" marR="0" rtl="0" algn="l">
              <a:lnSpc>
                <a:spcPct val="107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The model is statistically not significant.</a:t>
            </a:r>
            <a:endParaRPr b="0" i="0" sz="2400" u="none" cap="none" strike="noStrike">
              <a:solidFill>
                <a:schemeClr val="dk1"/>
              </a:solidFill>
              <a:latin typeface="Arial"/>
              <a:ea typeface="Arial"/>
              <a:cs typeface="Arial"/>
              <a:sym typeface="Arial"/>
            </a:endParaRPr>
          </a:p>
          <a:p>
            <a:pPr indent="-381000" lvl="0" marL="457200" marR="0" rtl="0" algn="l">
              <a:lnSpc>
                <a:spcPct val="107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All the variables are not significant.</a:t>
            </a:r>
            <a:endParaRPr b="0" i="0" sz="2400" u="none" cap="none" strike="noStrike">
              <a:solidFill>
                <a:schemeClr val="dk1"/>
              </a:solidFill>
              <a:latin typeface="Arial"/>
              <a:ea typeface="Arial"/>
              <a:cs typeface="Arial"/>
              <a:sym typeface="Arial"/>
            </a:endParaRPr>
          </a:p>
          <a:p>
            <a:pPr indent="-381000" lvl="0" marL="457200" marR="0" rtl="0" algn="l">
              <a:lnSpc>
                <a:spcPct val="107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AUC is acceptable.</a:t>
            </a:r>
            <a:endParaRPr b="0" i="0" sz="2400" u="none" cap="none" strike="noStrike">
              <a:solidFill>
                <a:schemeClr val="dk1"/>
              </a:solidFill>
              <a:latin typeface="Arial"/>
              <a:ea typeface="Arial"/>
              <a:cs typeface="Arial"/>
              <a:sym typeface="Arial"/>
            </a:endParaRPr>
          </a:p>
        </p:txBody>
      </p:sp>
      <p:pic>
        <p:nvPicPr>
          <p:cNvPr id="154" name="Google Shape;154;p3"/>
          <p:cNvPicPr preferRelativeResize="0"/>
          <p:nvPr/>
        </p:nvPicPr>
        <p:blipFill rotWithShape="1">
          <a:blip r:embed="rId3">
            <a:alphaModFix/>
          </a:blip>
          <a:srcRect b="0" l="0" r="0" t="0"/>
          <a:stretch/>
        </p:blipFill>
        <p:spPr>
          <a:xfrm>
            <a:off x="12800550" y="483939"/>
            <a:ext cx="5035950" cy="5407923"/>
          </a:xfrm>
          <a:prstGeom prst="rect">
            <a:avLst/>
          </a:prstGeom>
          <a:solidFill>
            <a:schemeClr val="lt1"/>
          </a:solidFill>
          <a:ln>
            <a:noFill/>
          </a:ln>
        </p:spPr>
      </p:pic>
      <p:pic>
        <p:nvPicPr>
          <p:cNvPr id="155" name="Google Shape;155;p3"/>
          <p:cNvPicPr preferRelativeResize="0"/>
          <p:nvPr/>
        </p:nvPicPr>
        <p:blipFill rotWithShape="1">
          <a:blip r:embed="rId4">
            <a:alphaModFix/>
          </a:blip>
          <a:srcRect b="0" l="0" r="0" t="0"/>
          <a:stretch/>
        </p:blipFill>
        <p:spPr>
          <a:xfrm>
            <a:off x="6980800" y="483955"/>
            <a:ext cx="5644187" cy="2435670"/>
          </a:xfrm>
          <a:prstGeom prst="rect">
            <a:avLst/>
          </a:prstGeom>
          <a:solidFill>
            <a:schemeClr val="lt1"/>
          </a:solidFill>
          <a:ln>
            <a:noFill/>
          </a:ln>
        </p:spPr>
      </p:pic>
      <p:pic>
        <p:nvPicPr>
          <p:cNvPr id="156" name="Google Shape;156;p3"/>
          <p:cNvPicPr preferRelativeResize="0"/>
          <p:nvPr/>
        </p:nvPicPr>
        <p:blipFill rotWithShape="1">
          <a:blip r:embed="rId5">
            <a:alphaModFix/>
          </a:blip>
          <a:srcRect b="0" l="0" r="0" t="0"/>
          <a:stretch/>
        </p:blipFill>
        <p:spPr>
          <a:xfrm>
            <a:off x="6980800" y="3268275"/>
            <a:ext cx="5644200" cy="1981080"/>
          </a:xfrm>
          <a:prstGeom prst="rect">
            <a:avLst/>
          </a:prstGeom>
          <a:solidFill>
            <a:schemeClr val="lt1"/>
          </a:solidFill>
          <a:ln>
            <a:noFill/>
          </a:ln>
        </p:spPr>
      </p:pic>
      <p:pic>
        <p:nvPicPr>
          <p:cNvPr id="157" name="Google Shape;157;p3"/>
          <p:cNvPicPr preferRelativeResize="0"/>
          <p:nvPr/>
        </p:nvPicPr>
        <p:blipFill rotWithShape="1">
          <a:blip r:embed="rId6">
            <a:alphaModFix/>
          </a:blip>
          <a:srcRect b="0" l="0" r="0" t="0"/>
          <a:stretch/>
        </p:blipFill>
        <p:spPr>
          <a:xfrm>
            <a:off x="9272550" y="7623041"/>
            <a:ext cx="4049944" cy="2557250"/>
          </a:xfrm>
          <a:prstGeom prst="rect">
            <a:avLst/>
          </a:prstGeom>
          <a:solidFill>
            <a:schemeClr val="lt1"/>
          </a:solidFill>
          <a:ln>
            <a:noFill/>
          </a:ln>
        </p:spPr>
      </p:pic>
      <p:pic>
        <p:nvPicPr>
          <p:cNvPr id="158" name="Google Shape;158;p3"/>
          <p:cNvPicPr preferRelativeResize="0"/>
          <p:nvPr/>
        </p:nvPicPr>
        <p:blipFill rotWithShape="1">
          <a:blip r:embed="rId7">
            <a:alphaModFix/>
          </a:blip>
          <a:srcRect b="0" l="0" r="0" t="0"/>
          <a:stretch/>
        </p:blipFill>
        <p:spPr>
          <a:xfrm>
            <a:off x="13602002" y="7652452"/>
            <a:ext cx="4049950" cy="2498420"/>
          </a:xfrm>
          <a:prstGeom prst="rect">
            <a:avLst/>
          </a:prstGeom>
          <a:solidFill>
            <a:schemeClr val="lt1"/>
          </a:solidFill>
          <a:ln>
            <a:noFill/>
          </a:ln>
        </p:spPr>
      </p:pic>
      <p:pic>
        <p:nvPicPr>
          <p:cNvPr id="159" name="Google Shape;159;p3"/>
          <p:cNvPicPr preferRelativeResize="0"/>
          <p:nvPr/>
        </p:nvPicPr>
        <p:blipFill rotWithShape="1">
          <a:blip r:embed="rId8">
            <a:alphaModFix/>
          </a:blip>
          <a:srcRect b="0" l="0" r="0" t="0"/>
          <a:stretch/>
        </p:blipFill>
        <p:spPr>
          <a:xfrm>
            <a:off x="8861075" y="6039750"/>
            <a:ext cx="8975425" cy="1542125"/>
          </a:xfrm>
          <a:prstGeom prst="rect">
            <a:avLst/>
          </a:prstGeom>
          <a:solidFill>
            <a:schemeClr val="lt1"/>
          </a:solidFill>
          <a:ln>
            <a:noFill/>
          </a:ln>
        </p:spPr>
      </p:pic>
      <p:graphicFrame>
        <p:nvGraphicFramePr>
          <p:cNvPr id="160" name="Google Shape;160;p3"/>
          <p:cNvGraphicFramePr/>
          <p:nvPr/>
        </p:nvGraphicFramePr>
        <p:xfrm>
          <a:off x="334100" y="6276225"/>
          <a:ext cx="3000000" cy="3000000"/>
        </p:xfrm>
        <a:graphic>
          <a:graphicData uri="http://schemas.openxmlformats.org/drawingml/2006/table">
            <a:tbl>
              <a:tblPr>
                <a:noFill/>
                <a:tableStyleId>{77E6C0C2-0E81-4D50-8E98-7F2A2882598D}</a:tableStyleId>
              </a:tblPr>
              <a:tblGrid>
                <a:gridCol w="1537675"/>
                <a:gridCol w="673975"/>
                <a:gridCol w="696475"/>
                <a:gridCol w="1023875"/>
                <a:gridCol w="1044775"/>
                <a:gridCol w="496775"/>
                <a:gridCol w="610600"/>
                <a:gridCol w="1043450"/>
                <a:gridCol w="998600"/>
              </a:tblGrid>
              <a:tr h="285750">
                <a:tc rowSpan="2">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gridSpan="4">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Training</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hMerge="1"/>
                <a:tc hMerge="1"/>
                <a:tc hMerge="1"/>
                <a:tc gridSpan="4">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Validation</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hMerge="1"/>
                <a:tc hMerge="1"/>
                <a:tc hMerge="1"/>
              </a:tr>
              <a:tr h="285750">
                <a:tc vMerge="1"/>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AUC</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Error Rate</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Sensitivity</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Specificity</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AUC</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Error Rate</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Sensitivity</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Specificity</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5750">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Logistic Regression Model</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0.56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45%</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42%</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67%</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0.52</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60%</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5750">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Logistic Regression Model - Final</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0.56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45%</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42%</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67%</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0.52</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60%</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52"/>
                                        </p:tgtEl>
                                        <p:attrNameLst>
                                          <p:attrName>style.visibility</p:attrName>
                                        </p:attrNameLst>
                                      </p:cBhvr>
                                      <p:to>
                                        <p:strVal val="visible"/>
                                      </p:to>
                                    </p:set>
                                    <p:animEffect filter="fade" transition="in">
                                      <p:cBhvr>
                                        <p:cTn dur="7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1b0c2a5d6e_0_22"/>
          <p:cNvSpPr txBox="1"/>
          <p:nvPr/>
        </p:nvSpPr>
        <p:spPr>
          <a:xfrm>
            <a:off x="1079125" y="561275"/>
            <a:ext cx="6765600" cy="52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US" sz="6000" u="none" cap="none" strike="noStrike">
                <a:solidFill>
                  <a:schemeClr val="dk1"/>
                </a:solidFill>
                <a:latin typeface="Calibri"/>
                <a:ea typeface="Calibri"/>
                <a:cs typeface="Calibri"/>
                <a:sym typeface="Calibri"/>
              </a:rPr>
              <a:t>CART </a:t>
            </a:r>
            <a:endParaRPr b="1" i="0" sz="6000" u="none" cap="none" strike="noStrike">
              <a:solidFill>
                <a:schemeClr val="dk1"/>
              </a:solidFill>
              <a:latin typeface="Calibri"/>
              <a:ea typeface="Calibri"/>
              <a:cs typeface="Calibri"/>
              <a:sym typeface="Calibri"/>
            </a:endParaRPr>
          </a:p>
        </p:txBody>
      </p:sp>
      <p:pic>
        <p:nvPicPr>
          <p:cNvPr id="166" name="Google Shape;166;g31b0c2a5d6e_0_22"/>
          <p:cNvPicPr preferRelativeResize="0"/>
          <p:nvPr/>
        </p:nvPicPr>
        <p:blipFill rotWithShape="1">
          <a:blip r:embed="rId3">
            <a:alphaModFix/>
          </a:blip>
          <a:srcRect b="0" l="0" r="0" t="0"/>
          <a:stretch/>
        </p:blipFill>
        <p:spPr>
          <a:xfrm>
            <a:off x="886026" y="2049600"/>
            <a:ext cx="5611450" cy="6452600"/>
          </a:xfrm>
          <a:prstGeom prst="rect">
            <a:avLst/>
          </a:prstGeom>
          <a:noFill/>
          <a:ln>
            <a:noFill/>
          </a:ln>
        </p:spPr>
      </p:pic>
      <p:pic>
        <p:nvPicPr>
          <p:cNvPr id="167" name="Google Shape;167;g31b0c2a5d6e_0_22"/>
          <p:cNvPicPr preferRelativeResize="0"/>
          <p:nvPr/>
        </p:nvPicPr>
        <p:blipFill rotWithShape="1">
          <a:blip r:embed="rId4">
            <a:alphaModFix/>
          </a:blip>
          <a:srcRect b="0" l="0" r="0" t="0"/>
          <a:stretch/>
        </p:blipFill>
        <p:spPr>
          <a:xfrm>
            <a:off x="7283675" y="2049600"/>
            <a:ext cx="5322350" cy="6319075"/>
          </a:xfrm>
          <a:prstGeom prst="rect">
            <a:avLst/>
          </a:prstGeom>
          <a:noFill/>
          <a:ln>
            <a:noFill/>
          </a:ln>
        </p:spPr>
      </p:pic>
      <p:sp>
        <p:nvSpPr>
          <p:cNvPr id="168" name="Google Shape;168;g31b0c2a5d6e_0_22"/>
          <p:cNvSpPr txBox="1"/>
          <p:nvPr/>
        </p:nvSpPr>
        <p:spPr>
          <a:xfrm>
            <a:off x="12980625" y="1213300"/>
            <a:ext cx="5037300" cy="812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br>
              <a:rPr b="0" i="0" lang="en-US" sz="2400" u="none" cap="none" strike="noStrike">
                <a:solidFill>
                  <a:srgbClr val="000000"/>
                </a:solidFill>
                <a:latin typeface="Calibri"/>
                <a:ea typeface="Calibri"/>
                <a:cs typeface="Calibri"/>
                <a:sym typeface="Calibri"/>
              </a:rPr>
            </a:br>
            <a:br>
              <a:rPr b="0" i="0" lang="en-US" sz="2400" u="none" cap="none" strike="noStrike">
                <a:solidFill>
                  <a:schemeClr val="dk1"/>
                </a:solidFill>
                <a:latin typeface="Calibri"/>
                <a:ea typeface="Calibri"/>
                <a:cs typeface="Calibri"/>
                <a:sym typeface="Calibri"/>
              </a:rPr>
            </a:b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Gini Model:</a:t>
            </a:r>
            <a:r>
              <a:rPr b="0" i="0" lang="en-US" sz="2400" u="none" cap="none" strike="noStrike">
                <a:solidFill>
                  <a:schemeClr val="dk1"/>
                </a:solidFill>
                <a:latin typeface="Calibri"/>
                <a:ea typeface="Calibri"/>
                <a:cs typeface="Calibri"/>
                <a:sym typeface="Calibri"/>
              </a:rPr>
              <a:t> Complex with 138 leaves, captures more patterns but has high validation error, showing poor generalization.</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1" i="0" lang="en-US" sz="2400" u="none" cap="none" strike="noStrike">
                <a:solidFill>
                  <a:schemeClr val="dk1"/>
                </a:solidFill>
                <a:latin typeface="Calibri"/>
                <a:ea typeface="Calibri"/>
                <a:cs typeface="Calibri"/>
                <a:sym typeface="Calibri"/>
              </a:rPr>
              <a:t>Entropy Model:</a:t>
            </a:r>
            <a:r>
              <a:rPr b="0" i="0" lang="en-US" sz="2400" u="none" cap="none" strike="noStrike">
                <a:solidFill>
                  <a:schemeClr val="dk1"/>
                </a:solidFill>
                <a:latin typeface="Calibri"/>
                <a:ea typeface="Calibri"/>
                <a:cs typeface="Calibri"/>
                <a:sym typeface="Calibri"/>
              </a:rPr>
              <a:t> Too simple with 1 leaf, lacks complexity to capture meaningful patterns in the data.</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highlight>
                <a:srgbClr val="FFFF00"/>
              </a:highlight>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g31b27916fc5_6_1"/>
          <p:cNvPicPr preferRelativeResize="0"/>
          <p:nvPr/>
        </p:nvPicPr>
        <p:blipFill rotWithShape="1">
          <a:blip r:embed="rId3">
            <a:alphaModFix/>
          </a:blip>
          <a:srcRect b="0" l="8315" r="0" t="0"/>
          <a:stretch/>
        </p:blipFill>
        <p:spPr>
          <a:xfrm>
            <a:off x="319375" y="1396525"/>
            <a:ext cx="9119025" cy="4300300"/>
          </a:xfrm>
          <a:prstGeom prst="rect">
            <a:avLst/>
          </a:prstGeom>
          <a:noFill/>
          <a:ln>
            <a:noFill/>
          </a:ln>
        </p:spPr>
      </p:pic>
      <p:pic>
        <p:nvPicPr>
          <p:cNvPr id="174" name="Google Shape;174;g31b27916fc5_6_1"/>
          <p:cNvPicPr preferRelativeResize="0"/>
          <p:nvPr/>
        </p:nvPicPr>
        <p:blipFill rotWithShape="1">
          <a:blip r:embed="rId4">
            <a:alphaModFix/>
          </a:blip>
          <a:srcRect b="0" l="0" r="0" t="0"/>
          <a:stretch/>
        </p:blipFill>
        <p:spPr>
          <a:xfrm>
            <a:off x="199125" y="5804375"/>
            <a:ext cx="9239275" cy="4300300"/>
          </a:xfrm>
          <a:prstGeom prst="rect">
            <a:avLst/>
          </a:prstGeom>
          <a:noFill/>
          <a:ln>
            <a:noFill/>
          </a:ln>
        </p:spPr>
      </p:pic>
      <p:sp>
        <p:nvSpPr>
          <p:cNvPr id="175" name="Google Shape;175;g31b27916fc5_6_1"/>
          <p:cNvSpPr txBox="1"/>
          <p:nvPr/>
        </p:nvSpPr>
        <p:spPr>
          <a:xfrm>
            <a:off x="10068475" y="856225"/>
            <a:ext cx="7653600" cy="844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Gini Model</a:t>
            </a:r>
            <a:endParaRPr b="1" sz="24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2400">
                <a:solidFill>
                  <a:schemeClr val="dk1"/>
                </a:solidFill>
                <a:latin typeface="Calibri"/>
                <a:ea typeface="Calibri"/>
                <a:cs typeface="Calibri"/>
                <a:sym typeface="Calibri"/>
              </a:rPr>
              <a:t>Training Data:</a:t>
            </a:r>
            <a:endParaRPr sz="24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Lower misclassification rates</a:t>
            </a:r>
            <a:endParaRPr sz="24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Higher sensitivity and specificity</a:t>
            </a:r>
            <a:endParaRPr sz="24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Performs well on training data</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Validation Data:</a:t>
            </a:r>
            <a:endParaRPr sz="2400">
              <a:solidFill>
                <a:schemeClr val="dk1"/>
              </a:solidFill>
              <a:latin typeface="Calibri"/>
              <a:ea typeface="Calibri"/>
              <a:cs typeface="Calibri"/>
              <a:sym typeface="Calibri"/>
            </a:endParaRPr>
          </a:p>
          <a:p>
            <a:pPr indent="-298450" lvl="1" marL="9144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Struggles with generalization, indicating potential overfitting</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Entropy Model</a:t>
            </a:r>
            <a:endParaRPr b="1" sz="24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2400">
                <a:solidFill>
                  <a:schemeClr val="dk1"/>
                </a:solidFill>
                <a:latin typeface="Calibri"/>
                <a:ea typeface="Calibri"/>
                <a:cs typeface="Calibri"/>
                <a:sym typeface="Calibri"/>
              </a:rPr>
              <a:t>High misclassification rates for both training and validation data</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Poor handling of class imbalances</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Training and validation AUC values near 0.5 shows  poor predictive performance.</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latin typeface="Calibri"/>
                <a:ea typeface="Calibri"/>
                <a:cs typeface="Calibri"/>
                <a:sym typeface="Calibri"/>
              </a:rPr>
              <a:t>Conclusion</a:t>
            </a:r>
            <a:endParaRPr b="1" sz="24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2400">
                <a:solidFill>
                  <a:schemeClr val="dk1"/>
                </a:solidFill>
                <a:latin typeface="Calibri"/>
                <a:ea typeface="Calibri"/>
                <a:cs typeface="Calibri"/>
                <a:sym typeface="Calibri"/>
              </a:rPr>
              <a:t>The Gini model performs better overall, offering balanced metrics compared to the entropy model.</a:t>
            </a:r>
            <a:endParaRPr sz="24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chemeClr val="dk1"/>
              </a:buClr>
              <a:buSzPts val="1100"/>
              <a:buFont typeface="Arial"/>
              <a:buNone/>
            </a:pPr>
            <a:r>
              <a:t/>
            </a:r>
            <a:endParaRPr sz="2400">
              <a:solidFill>
                <a:schemeClr val="dk1"/>
              </a:solidFill>
              <a:latin typeface="Calibri"/>
              <a:ea typeface="Calibri"/>
              <a:cs typeface="Calibri"/>
              <a:sym typeface="Calibri"/>
            </a:endParaRPr>
          </a:p>
        </p:txBody>
      </p:sp>
      <p:sp>
        <p:nvSpPr>
          <p:cNvPr id="176" name="Google Shape;176;g31b27916fc5_6_1"/>
          <p:cNvSpPr txBox="1"/>
          <p:nvPr/>
        </p:nvSpPr>
        <p:spPr>
          <a:xfrm>
            <a:off x="502225" y="288325"/>
            <a:ext cx="103179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1" i="0" lang="en-US" sz="5000" u="none" cap="none" strike="noStrike">
                <a:solidFill>
                  <a:schemeClr val="dk1"/>
                </a:solidFill>
                <a:latin typeface="Calibri"/>
                <a:ea typeface="Calibri"/>
                <a:cs typeface="Calibri"/>
                <a:sym typeface="Calibri"/>
              </a:rPr>
              <a:t>CART Model:</a:t>
            </a:r>
            <a:r>
              <a:rPr b="1" i="0" lang="en-US" sz="6000" u="none" cap="none" strike="noStrike">
                <a:solidFill>
                  <a:schemeClr val="dk1"/>
                </a:solidFill>
                <a:latin typeface="Calibri"/>
                <a:ea typeface="Calibri"/>
                <a:cs typeface="Calibri"/>
                <a:sym typeface="Calibri"/>
              </a:rPr>
              <a:t> </a:t>
            </a:r>
            <a:r>
              <a:rPr b="1" i="0" lang="en-US" sz="4400" u="none" cap="none" strike="noStrike">
                <a:solidFill>
                  <a:schemeClr val="dk1"/>
                </a:solidFill>
                <a:latin typeface="Calibri"/>
                <a:ea typeface="Calibri"/>
                <a:cs typeface="Calibri"/>
                <a:sym typeface="Calibri"/>
              </a:rPr>
              <a:t>Gini vs. Entropy </a:t>
            </a:r>
            <a:endParaRPr b="1" i="0" sz="4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a464607c99_2_5"/>
          <p:cNvSpPr txBox="1"/>
          <p:nvPr>
            <p:ph type="ctrTitle"/>
          </p:nvPr>
        </p:nvSpPr>
        <p:spPr>
          <a:xfrm>
            <a:off x="423525" y="184075"/>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b="1" lang="en-US" sz="6000">
                <a:solidFill>
                  <a:srgbClr val="0F243E"/>
                </a:solidFill>
              </a:rPr>
              <a:t>Neural Networks</a:t>
            </a:r>
            <a:endParaRPr b="1" sz="6000">
              <a:solidFill>
                <a:srgbClr val="0F243E"/>
              </a:solidFill>
            </a:endParaRPr>
          </a:p>
        </p:txBody>
      </p:sp>
      <p:sp>
        <p:nvSpPr>
          <p:cNvPr id="182" name="Google Shape;182;g2a464607c99_2_5"/>
          <p:cNvSpPr txBox="1"/>
          <p:nvPr>
            <p:ph idx="1" type="subTitle"/>
          </p:nvPr>
        </p:nvSpPr>
        <p:spPr>
          <a:xfrm>
            <a:off x="423525" y="1780625"/>
            <a:ext cx="7772400" cy="42813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chemeClr val="dk1"/>
              </a:buClr>
              <a:buSzPts val="1100"/>
              <a:buChar char="●"/>
            </a:pPr>
            <a:r>
              <a:rPr lang="en-US" sz="2400">
                <a:solidFill>
                  <a:schemeClr val="dk1"/>
                </a:solidFill>
              </a:rPr>
              <a:t>The misclassification rate is lower for both sets.</a:t>
            </a:r>
            <a:endParaRPr sz="2400">
              <a:solidFill>
                <a:schemeClr val="dk1"/>
              </a:solidFill>
            </a:endParaRPr>
          </a:p>
          <a:p>
            <a:pPr indent="-298450" lvl="0" marL="457200" marR="0" rtl="0" algn="l">
              <a:lnSpc>
                <a:spcPct val="115000"/>
              </a:lnSpc>
              <a:spcBef>
                <a:spcPts val="0"/>
              </a:spcBef>
              <a:spcAft>
                <a:spcPts val="0"/>
              </a:spcAft>
              <a:buClr>
                <a:schemeClr val="dk1"/>
              </a:buClr>
              <a:buSzPts val="1100"/>
              <a:buChar char="●"/>
            </a:pPr>
            <a:r>
              <a:rPr lang="en-US" sz="2400">
                <a:solidFill>
                  <a:schemeClr val="dk1"/>
                </a:solidFill>
              </a:rPr>
              <a:t>The sensitivity is approx. 46% on training and 44% on validation set, suggesting that there is room for improvement in identifying true positives.</a:t>
            </a:r>
            <a:endParaRPr sz="2400">
              <a:solidFill>
                <a:schemeClr val="dk1"/>
              </a:solidFill>
            </a:endParaRPr>
          </a:p>
          <a:p>
            <a:pPr indent="-298450" lvl="0" marL="457200" marR="0" rtl="0" algn="l">
              <a:lnSpc>
                <a:spcPct val="115000"/>
              </a:lnSpc>
              <a:spcBef>
                <a:spcPts val="0"/>
              </a:spcBef>
              <a:spcAft>
                <a:spcPts val="0"/>
              </a:spcAft>
              <a:buClr>
                <a:schemeClr val="dk1"/>
              </a:buClr>
              <a:buSzPts val="1100"/>
              <a:buChar char="●"/>
            </a:pPr>
            <a:r>
              <a:rPr lang="en-US" sz="2400">
                <a:solidFill>
                  <a:schemeClr val="dk1"/>
                </a:solidFill>
              </a:rPr>
              <a:t>The specificity is approx. 64% for both sets.</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400">
                <a:solidFill>
                  <a:srgbClr val="000000"/>
                </a:solidFill>
              </a:rPr>
              <a:t>The model with 1 hidden layer of 12 neurons shows a moderate performance with no overfitting.</a:t>
            </a:r>
            <a:endParaRPr b="1" sz="1200">
              <a:solidFill>
                <a:schemeClr val="dk1"/>
              </a:solidFill>
              <a:latin typeface="Arial"/>
              <a:ea typeface="Arial"/>
              <a:cs typeface="Arial"/>
              <a:sym typeface="Arial"/>
            </a:endParaRPr>
          </a:p>
          <a:p>
            <a:pPr indent="0" lvl="0" marL="0" rtl="0" algn="l">
              <a:lnSpc>
                <a:spcPct val="115000"/>
              </a:lnSpc>
              <a:spcBef>
                <a:spcPts val="1200"/>
              </a:spcBef>
              <a:spcAft>
                <a:spcPts val="0"/>
              </a:spcAft>
              <a:buSzPts val="3200"/>
              <a:buNone/>
            </a:pPr>
            <a:r>
              <a:t/>
            </a:r>
            <a:endParaRPr sz="2400">
              <a:solidFill>
                <a:srgbClr val="000000"/>
              </a:solidFill>
            </a:endParaRPr>
          </a:p>
        </p:txBody>
      </p:sp>
      <p:pic>
        <p:nvPicPr>
          <p:cNvPr id="183" name="Google Shape;183;g2a464607c99_2_5"/>
          <p:cNvPicPr preferRelativeResize="0"/>
          <p:nvPr/>
        </p:nvPicPr>
        <p:blipFill rotWithShape="1">
          <a:blip r:embed="rId3">
            <a:alphaModFix/>
          </a:blip>
          <a:srcRect b="0" l="0" r="0" t="0"/>
          <a:stretch/>
        </p:blipFill>
        <p:spPr>
          <a:xfrm>
            <a:off x="8195925" y="108725"/>
            <a:ext cx="3855475" cy="3834525"/>
          </a:xfrm>
          <a:prstGeom prst="rect">
            <a:avLst/>
          </a:prstGeom>
          <a:noFill/>
          <a:ln>
            <a:noFill/>
          </a:ln>
        </p:spPr>
      </p:pic>
      <p:pic>
        <p:nvPicPr>
          <p:cNvPr id="184" name="Google Shape;184;g2a464607c99_2_5"/>
          <p:cNvPicPr preferRelativeResize="0"/>
          <p:nvPr/>
        </p:nvPicPr>
        <p:blipFill rotWithShape="1">
          <a:blip r:embed="rId4">
            <a:alphaModFix/>
          </a:blip>
          <a:srcRect b="0" l="0" r="0" t="0"/>
          <a:stretch/>
        </p:blipFill>
        <p:spPr>
          <a:xfrm>
            <a:off x="8655925" y="4053463"/>
            <a:ext cx="2935475" cy="1111376"/>
          </a:xfrm>
          <a:prstGeom prst="rect">
            <a:avLst/>
          </a:prstGeom>
          <a:noFill/>
          <a:ln>
            <a:noFill/>
          </a:ln>
        </p:spPr>
      </p:pic>
      <p:pic>
        <p:nvPicPr>
          <p:cNvPr id="185" name="Google Shape;185;g2a464607c99_2_5"/>
          <p:cNvPicPr preferRelativeResize="0"/>
          <p:nvPr/>
        </p:nvPicPr>
        <p:blipFill rotWithShape="1">
          <a:blip r:embed="rId5">
            <a:alphaModFix/>
          </a:blip>
          <a:srcRect b="0" l="0" r="0" t="0"/>
          <a:stretch/>
        </p:blipFill>
        <p:spPr>
          <a:xfrm>
            <a:off x="12494625" y="108725"/>
            <a:ext cx="3855475" cy="2327525"/>
          </a:xfrm>
          <a:prstGeom prst="rect">
            <a:avLst/>
          </a:prstGeom>
          <a:noFill/>
          <a:ln>
            <a:noFill/>
          </a:ln>
        </p:spPr>
      </p:pic>
      <p:pic>
        <p:nvPicPr>
          <p:cNvPr id="186" name="Google Shape;186;g2a464607c99_2_5"/>
          <p:cNvPicPr preferRelativeResize="0"/>
          <p:nvPr/>
        </p:nvPicPr>
        <p:blipFill rotWithShape="1">
          <a:blip r:embed="rId6">
            <a:alphaModFix/>
          </a:blip>
          <a:srcRect b="0" l="0" r="0" t="0"/>
          <a:stretch/>
        </p:blipFill>
        <p:spPr>
          <a:xfrm>
            <a:off x="12494625" y="4053475"/>
            <a:ext cx="3034850" cy="1034063"/>
          </a:xfrm>
          <a:prstGeom prst="rect">
            <a:avLst/>
          </a:prstGeom>
          <a:noFill/>
          <a:ln>
            <a:noFill/>
          </a:ln>
        </p:spPr>
      </p:pic>
      <p:pic>
        <p:nvPicPr>
          <p:cNvPr id="187" name="Google Shape;187;g2a464607c99_2_5"/>
          <p:cNvPicPr preferRelativeResize="0"/>
          <p:nvPr/>
        </p:nvPicPr>
        <p:blipFill rotWithShape="1">
          <a:blip r:embed="rId7">
            <a:alphaModFix/>
          </a:blip>
          <a:srcRect b="0" l="0" r="0" t="0"/>
          <a:stretch/>
        </p:blipFill>
        <p:spPr>
          <a:xfrm>
            <a:off x="12685997" y="5401825"/>
            <a:ext cx="4312050" cy="4648200"/>
          </a:xfrm>
          <a:prstGeom prst="rect">
            <a:avLst/>
          </a:prstGeom>
          <a:noFill/>
          <a:ln>
            <a:noFill/>
          </a:ln>
        </p:spPr>
      </p:pic>
      <p:pic>
        <p:nvPicPr>
          <p:cNvPr id="188" name="Google Shape;188;g2a464607c99_2_5"/>
          <p:cNvPicPr preferRelativeResize="0"/>
          <p:nvPr/>
        </p:nvPicPr>
        <p:blipFill rotWithShape="1">
          <a:blip r:embed="rId8">
            <a:alphaModFix/>
          </a:blip>
          <a:srcRect b="0" l="0" r="0" t="0"/>
          <a:stretch/>
        </p:blipFill>
        <p:spPr>
          <a:xfrm>
            <a:off x="8348325" y="5317250"/>
            <a:ext cx="3953975" cy="4817350"/>
          </a:xfrm>
          <a:prstGeom prst="rect">
            <a:avLst/>
          </a:prstGeom>
          <a:noFill/>
          <a:ln>
            <a:noFill/>
          </a:ln>
        </p:spPr>
      </p:pic>
      <p:sp>
        <p:nvSpPr>
          <p:cNvPr id="189" name="Google Shape;189;g2a464607c99_2_5"/>
          <p:cNvSpPr txBox="1"/>
          <p:nvPr/>
        </p:nvSpPr>
        <p:spPr>
          <a:xfrm>
            <a:off x="342525" y="5799700"/>
            <a:ext cx="7397400" cy="346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Adding another hidden layer – 12 neurons did not make much difference.</a:t>
            </a:r>
            <a:endParaRPr b="1" i="0" sz="2400" u="none" cap="none" strike="noStrike">
              <a:solidFill>
                <a:srgbClr val="000000"/>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a464607c99_2_10"/>
          <p:cNvSpPr txBox="1"/>
          <p:nvPr>
            <p:ph type="ctrTitle"/>
          </p:nvPr>
        </p:nvSpPr>
        <p:spPr>
          <a:xfrm>
            <a:off x="767626" y="2069178"/>
            <a:ext cx="7772400" cy="886500"/>
          </a:xfrm>
          <a:prstGeom prst="rect">
            <a:avLst/>
          </a:prstGeom>
          <a:noFill/>
          <a:ln>
            <a:noFill/>
          </a:ln>
        </p:spPr>
        <p:txBody>
          <a:bodyPr anchorCtr="0" anchor="ctr"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2400">
                <a:solidFill>
                  <a:srgbClr val="000000"/>
                </a:solidFill>
              </a:rPr>
              <a:t>Reducing the neurons to 8</a:t>
            </a:r>
            <a:endParaRPr b="1" sz="2400">
              <a:solidFill>
                <a:srgbClr val="000000"/>
              </a:solidFill>
            </a:endParaRPr>
          </a:p>
          <a:p>
            <a:pPr indent="0" lvl="0" marL="0" rtl="0" algn="ctr">
              <a:lnSpc>
                <a:spcPct val="100000"/>
              </a:lnSpc>
              <a:spcBef>
                <a:spcPts val="0"/>
              </a:spcBef>
              <a:spcAft>
                <a:spcPts val="0"/>
              </a:spcAft>
              <a:buSzPts val="1800"/>
              <a:buNone/>
            </a:pPr>
            <a:r>
              <a:t/>
            </a:r>
            <a:endParaRPr b="1" sz="2400">
              <a:solidFill>
                <a:srgbClr val="000000"/>
              </a:solidFill>
            </a:endParaRPr>
          </a:p>
        </p:txBody>
      </p:sp>
      <p:sp>
        <p:nvSpPr>
          <p:cNvPr id="195" name="Google Shape;195;g2a464607c99_2_10"/>
          <p:cNvSpPr txBox="1"/>
          <p:nvPr>
            <p:ph idx="1" type="subTitle"/>
          </p:nvPr>
        </p:nvSpPr>
        <p:spPr>
          <a:xfrm>
            <a:off x="635500" y="2955673"/>
            <a:ext cx="8669400" cy="3671700"/>
          </a:xfrm>
          <a:prstGeom prst="rect">
            <a:avLst/>
          </a:prstGeom>
          <a:noFill/>
          <a:ln>
            <a:noFill/>
          </a:ln>
        </p:spPr>
        <p:txBody>
          <a:bodyPr anchorCtr="0" anchor="t" bIns="45700" lIns="91425" spcFirstLastPara="1" rIns="91425" wrap="square" tIns="45700">
            <a:spAutoFit/>
          </a:bodyPr>
          <a:lstStyle/>
          <a:p>
            <a:pPr indent="-298450" lvl="0" marL="457200" marR="0" rtl="0" algn="l">
              <a:lnSpc>
                <a:spcPct val="115000"/>
              </a:lnSpc>
              <a:spcBef>
                <a:spcPts val="1200"/>
              </a:spcBef>
              <a:spcAft>
                <a:spcPts val="0"/>
              </a:spcAft>
              <a:buClr>
                <a:schemeClr val="dk1"/>
              </a:buClr>
              <a:buSzPts val="1100"/>
              <a:buChar char="●"/>
            </a:pPr>
            <a:r>
              <a:rPr lang="en-US" sz="2400">
                <a:solidFill>
                  <a:schemeClr val="dk1"/>
                </a:solidFill>
              </a:rPr>
              <a:t>The misclassification rate was reduced to 0.39 and 0.40 for the training &amp; Validation set.</a:t>
            </a:r>
            <a:endParaRPr sz="2400">
              <a:solidFill>
                <a:schemeClr val="dk1"/>
              </a:solidFill>
            </a:endParaRPr>
          </a:p>
          <a:p>
            <a:pPr indent="-298450" lvl="0" marL="457200" marR="0" rtl="0" algn="l">
              <a:lnSpc>
                <a:spcPct val="115000"/>
              </a:lnSpc>
              <a:spcBef>
                <a:spcPts val="0"/>
              </a:spcBef>
              <a:spcAft>
                <a:spcPts val="0"/>
              </a:spcAft>
              <a:buClr>
                <a:schemeClr val="dk1"/>
              </a:buClr>
              <a:buSzPts val="1100"/>
              <a:buChar char="●"/>
            </a:pPr>
            <a:r>
              <a:rPr lang="en-US" sz="2400">
                <a:solidFill>
                  <a:schemeClr val="dk1"/>
                </a:solidFill>
              </a:rPr>
              <a:t>Sensitivity remains at same levels for training &amp; validation.</a:t>
            </a:r>
            <a:endParaRPr sz="2400">
              <a:solidFill>
                <a:schemeClr val="dk1"/>
              </a:solidFill>
            </a:endParaRPr>
          </a:p>
          <a:p>
            <a:pPr indent="-298450" lvl="0" marL="457200" marR="0" rtl="0" algn="l">
              <a:lnSpc>
                <a:spcPct val="115000"/>
              </a:lnSpc>
              <a:spcBef>
                <a:spcPts val="0"/>
              </a:spcBef>
              <a:spcAft>
                <a:spcPts val="0"/>
              </a:spcAft>
              <a:buClr>
                <a:schemeClr val="dk1"/>
              </a:buClr>
              <a:buSzPts val="1100"/>
              <a:buChar char="●"/>
            </a:pPr>
            <a:r>
              <a:rPr lang="en-US" sz="2400">
                <a:solidFill>
                  <a:schemeClr val="dk1"/>
                </a:solidFill>
              </a:rPr>
              <a:t>Specificity improved for validation to 74%.</a:t>
            </a:r>
            <a:endParaRPr sz="2400">
              <a:solidFill>
                <a:schemeClr val="dk1"/>
              </a:solidFill>
            </a:endParaRPr>
          </a:p>
          <a:p>
            <a:pPr indent="-298450" lvl="0" marL="457200" marR="0" rtl="0" algn="l">
              <a:lnSpc>
                <a:spcPct val="115000"/>
              </a:lnSpc>
              <a:spcBef>
                <a:spcPts val="0"/>
              </a:spcBef>
              <a:spcAft>
                <a:spcPts val="0"/>
              </a:spcAft>
              <a:buClr>
                <a:schemeClr val="dk1"/>
              </a:buClr>
              <a:buSzPts val="1100"/>
              <a:buChar char="●"/>
            </a:pPr>
            <a:r>
              <a:rPr lang="en-US" sz="2400">
                <a:solidFill>
                  <a:schemeClr val="dk1"/>
                </a:solidFill>
              </a:rPr>
              <a:t>There is still room for improvement in sensitivity, but overall the</a:t>
            </a:r>
            <a:r>
              <a:rPr lang="en-US" sz="2400">
                <a:solidFill>
                  <a:srgbClr val="000000"/>
                </a:solidFill>
              </a:rPr>
              <a:t> </a:t>
            </a:r>
            <a:r>
              <a:rPr b="1" lang="en-US" sz="2400">
                <a:solidFill>
                  <a:srgbClr val="000000"/>
                </a:solidFill>
              </a:rPr>
              <a:t>model performed better with no sign of overfitting.</a:t>
            </a:r>
            <a:endParaRPr b="1" sz="1200">
              <a:solidFill>
                <a:schemeClr val="dk1"/>
              </a:solidFill>
              <a:latin typeface="Arial"/>
              <a:ea typeface="Arial"/>
              <a:cs typeface="Arial"/>
              <a:sym typeface="Arial"/>
            </a:endParaRPr>
          </a:p>
          <a:p>
            <a:pPr indent="0" lvl="0" marL="457200" rtl="0" algn="l">
              <a:lnSpc>
                <a:spcPct val="115000"/>
              </a:lnSpc>
              <a:spcBef>
                <a:spcPts val="1200"/>
              </a:spcBef>
              <a:spcAft>
                <a:spcPts val="0"/>
              </a:spcAft>
              <a:buSzPts val="3200"/>
              <a:buNone/>
            </a:pPr>
            <a:r>
              <a:t/>
            </a:r>
            <a:endParaRPr sz="2400">
              <a:solidFill>
                <a:schemeClr val="dk1"/>
              </a:solidFill>
            </a:endParaRPr>
          </a:p>
          <a:p>
            <a:pPr indent="0" lvl="0" marL="0" rtl="0" algn="ctr">
              <a:lnSpc>
                <a:spcPct val="100000"/>
              </a:lnSpc>
              <a:spcBef>
                <a:spcPts val="640"/>
              </a:spcBef>
              <a:spcAft>
                <a:spcPts val="0"/>
              </a:spcAft>
              <a:buSzPts val="3200"/>
              <a:buNone/>
            </a:pPr>
            <a:r>
              <a:t/>
            </a:r>
            <a:endParaRPr sz="2400">
              <a:latin typeface="Calibri"/>
              <a:ea typeface="Calibri"/>
              <a:cs typeface="Calibri"/>
              <a:sym typeface="Calibri"/>
            </a:endParaRPr>
          </a:p>
        </p:txBody>
      </p:sp>
      <p:pic>
        <p:nvPicPr>
          <p:cNvPr id="196" name="Google Shape;196;g2a464607c99_2_10"/>
          <p:cNvPicPr preferRelativeResize="0"/>
          <p:nvPr/>
        </p:nvPicPr>
        <p:blipFill rotWithShape="1">
          <a:blip r:embed="rId3">
            <a:alphaModFix/>
          </a:blip>
          <a:srcRect b="0" l="0" r="0" t="0"/>
          <a:stretch/>
        </p:blipFill>
        <p:spPr>
          <a:xfrm>
            <a:off x="-196423" y="326644"/>
            <a:ext cx="7773073" cy="1652159"/>
          </a:xfrm>
          <a:prstGeom prst="rect">
            <a:avLst/>
          </a:prstGeom>
          <a:noFill/>
          <a:ln>
            <a:noFill/>
          </a:ln>
        </p:spPr>
      </p:pic>
      <p:pic>
        <p:nvPicPr>
          <p:cNvPr id="197" name="Google Shape;197;g2a464607c99_2_10"/>
          <p:cNvPicPr preferRelativeResize="0"/>
          <p:nvPr/>
        </p:nvPicPr>
        <p:blipFill rotWithShape="1">
          <a:blip r:embed="rId4">
            <a:alphaModFix/>
          </a:blip>
          <a:srcRect b="0" l="0" r="0" t="0"/>
          <a:stretch/>
        </p:blipFill>
        <p:spPr>
          <a:xfrm>
            <a:off x="14436975" y="417025"/>
            <a:ext cx="3501550" cy="1311280"/>
          </a:xfrm>
          <a:prstGeom prst="rect">
            <a:avLst/>
          </a:prstGeom>
          <a:noFill/>
          <a:ln>
            <a:noFill/>
          </a:ln>
        </p:spPr>
      </p:pic>
      <p:pic>
        <p:nvPicPr>
          <p:cNvPr id="198" name="Google Shape;198;g2a464607c99_2_10"/>
          <p:cNvPicPr preferRelativeResize="0"/>
          <p:nvPr/>
        </p:nvPicPr>
        <p:blipFill rotWithShape="1">
          <a:blip r:embed="rId5">
            <a:alphaModFix/>
          </a:blip>
          <a:srcRect b="0" l="0" r="0" t="0"/>
          <a:stretch/>
        </p:blipFill>
        <p:spPr>
          <a:xfrm>
            <a:off x="10620575" y="548400"/>
            <a:ext cx="3166600" cy="2674100"/>
          </a:xfrm>
          <a:prstGeom prst="rect">
            <a:avLst/>
          </a:prstGeom>
          <a:noFill/>
          <a:ln>
            <a:noFill/>
          </a:ln>
        </p:spPr>
      </p:pic>
      <p:pic>
        <p:nvPicPr>
          <p:cNvPr id="199" name="Google Shape;199;g2a464607c99_2_10"/>
          <p:cNvPicPr preferRelativeResize="0"/>
          <p:nvPr/>
        </p:nvPicPr>
        <p:blipFill rotWithShape="1">
          <a:blip r:embed="rId6">
            <a:alphaModFix/>
          </a:blip>
          <a:srcRect b="-14910" l="4090" r="-4088" t="14910"/>
          <a:stretch/>
        </p:blipFill>
        <p:spPr>
          <a:xfrm>
            <a:off x="11859775" y="3571475"/>
            <a:ext cx="4804950" cy="71801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1afd55de18_1_0"/>
          <p:cNvSpPr txBox="1"/>
          <p:nvPr>
            <p:ph type="ctrTitle"/>
          </p:nvPr>
        </p:nvSpPr>
        <p:spPr>
          <a:xfrm>
            <a:off x="341550" y="91975"/>
            <a:ext cx="7772400" cy="1470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SzPts val="1800"/>
              <a:buNone/>
            </a:pPr>
            <a:r>
              <a:rPr b="1" lang="en-US" sz="6000"/>
              <a:t>Discriminant Analysis</a:t>
            </a:r>
            <a:endParaRPr b="1" sz="6000"/>
          </a:p>
        </p:txBody>
      </p:sp>
      <p:pic>
        <p:nvPicPr>
          <p:cNvPr id="205" name="Google Shape;205;g31afd55de18_1_0"/>
          <p:cNvPicPr preferRelativeResize="0"/>
          <p:nvPr/>
        </p:nvPicPr>
        <p:blipFill rotWithShape="1">
          <a:blip r:embed="rId3">
            <a:alphaModFix/>
          </a:blip>
          <a:srcRect b="0" l="0" r="0" t="0"/>
          <a:stretch/>
        </p:blipFill>
        <p:spPr>
          <a:xfrm>
            <a:off x="7621788" y="1646637"/>
            <a:ext cx="4461975" cy="3779025"/>
          </a:xfrm>
          <a:prstGeom prst="rect">
            <a:avLst/>
          </a:prstGeom>
          <a:noFill/>
          <a:ln>
            <a:noFill/>
          </a:ln>
        </p:spPr>
      </p:pic>
      <p:pic>
        <p:nvPicPr>
          <p:cNvPr id="206" name="Google Shape;206;g31afd55de18_1_0"/>
          <p:cNvPicPr preferRelativeResize="0"/>
          <p:nvPr/>
        </p:nvPicPr>
        <p:blipFill rotWithShape="1">
          <a:blip r:embed="rId4">
            <a:alphaModFix/>
          </a:blip>
          <a:srcRect b="0" l="0" r="0" t="0"/>
          <a:stretch/>
        </p:blipFill>
        <p:spPr>
          <a:xfrm>
            <a:off x="9907225" y="203313"/>
            <a:ext cx="4891150" cy="1358650"/>
          </a:xfrm>
          <a:prstGeom prst="rect">
            <a:avLst/>
          </a:prstGeom>
          <a:noFill/>
          <a:ln>
            <a:noFill/>
          </a:ln>
        </p:spPr>
      </p:pic>
      <p:sp>
        <p:nvSpPr>
          <p:cNvPr id="207" name="Google Shape;207;g31afd55de18_1_0"/>
          <p:cNvSpPr txBox="1"/>
          <p:nvPr/>
        </p:nvSpPr>
        <p:spPr>
          <a:xfrm>
            <a:off x="1140000" y="5862575"/>
            <a:ext cx="4783200" cy="8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Prior Proportion of 60-40</a:t>
            </a:r>
            <a:endParaRPr b="0" i="0" sz="3200" u="none" cap="none" strike="noStrike">
              <a:solidFill>
                <a:schemeClr val="dk1"/>
              </a:solidFill>
              <a:latin typeface="Calibri"/>
              <a:ea typeface="Calibri"/>
              <a:cs typeface="Calibri"/>
              <a:sym typeface="Calibri"/>
            </a:endParaRPr>
          </a:p>
        </p:txBody>
      </p:sp>
      <p:sp>
        <p:nvSpPr>
          <p:cNvPr id="208" name="Google Shape;208;g31afd55de18_1_0"/>
          <p:cNvSpPr txBox="1"/>
          <p:nvPr/>
        </p:nvSpPr>
        <p:spPr>
          <a:xfrm>
            <a:off x="60650" y="804513"/>
            <a:ext cx="7269300" cy="470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sz="24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2400">
                <a:solidFill>
                  <a:schemeClr val="dk1"/>
                </a:solidFill>
                <a:latin typeface="Calibri"/>
                <a:ea typeface="Calibri"/>
                <a:cs typeface="Calibri"/>
                <a:sym typeface="Calibri"/>
              </a:rPr>
              <a:t>412 observations (52%) belong to Class 0 (unsatisfactory ratings).</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388 observations (48%) belong to Class 1 (satisfactory ratings).</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Sensitivity: The model struggled to identify true positives effectively.</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Specificity: Achieved moderate accuracy in identifying true negatives.</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sz="2400">
              <a:solidFill>
                <a:schemeClr val="dk1"/>
              </a:solidFill>
              <a:latin typeface="Calibri"/>
              <a:ea typeface="Calibri"/>
              <a:cs typeface="Calibri"/>
              <a:sym typeface="Calibri"/>
            </a:endParaRPr>
          </a:p>
          <a:p>
            <a:pPr indent="0" lvl="0" marL="0" rtl="0" algn="just">
              <a:spcBef>
                <a:spcPts val="1200"/>
              </a:spcBef>
              <a:spcAft>
                <a:spcPts val="0"/>
              </a:spcAft>
              <a:buClr>
                <a:schemeClr val="dk1"/>
              </a:buClr>
              <a:buSzPts val="1100"/>
              <a:buFont typeface="Arial"/>
              <a:buNone/>
            </a:pPr>
            <a:r>
              <a:t/>
            </a:r>
            <a:endParaRPr sz="24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2400"/>
              <a:buFont typeface="Arial"/>
              <a:buNone/>
            </a:pPr>
            <a:r>
              <a:t/>
            </a:r>
            <a:endParaRPr sz="2400">
              <a:solidFill>
                <a:schemeClr val="dk1"/>
              </a:solidFill>
              <a:latin typeface="Calibri"/>
              <a:ea typeface="Calibri"/>
              <a:cs typeface="Calibri"/>
              <a:sym typeface="Calibri"/>
            </a:endParaRPr>
          </a:p>
        </p:txBody>
      </p:sp>
      <p:pic>
        <p:nvPicPr>
          <p:cNvPr id="209" name="Google Shape;209;g31afd55de18_1_0"/>
          <p:cNvPicPr preferRelativeResize="0"/>
          <p:nvPr/>
        </p:nvPicPr>
        <p:blipFill rotWithShape="1">
          <a:blip r:embed="rId5">
            <a:alphaModFix/>
          </a:blip>
          <a:srcRect b="0" l="0" r="0" t="0"/>
          <a:stretch/>
        </p:blipFill>
        <p:spPr>
          <a:xfrm>
            <a:off x="12571513" y="1646650"/>
            <a:ext cx="4293175" cy="3868475"/>
          </a:xfrm>
          <a:prstGeom prst="rect">
            <a:avLst/>
          </a:prstGeom>
          <a:noFill/>
          <a:ln>
            <a:noFill/>
          </a:ln>
        </p:spPr>
      </p:pic>
      <p:sp>
        <p:nvSpPr>
          <p:cNvPr id="210" name="Google Shape;210;g31afd55de18_1_0"/>
          <p:cNvSpPr txBox="1"/>
          <p:nvPr/>
        </p:nvSpPr>
        <p:spPr>
          <a:xfrm>
            <a:off x="899750" y="8134025"/>
            <a:ext cx="5591100" cy="89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Model couldn’t identify true positives.</a:t>
            </a:r>
            <a:endParaRPr b="0" i="0" sz="3200" u="none" cap="none" strike="noStrike">
              <a:solidFill>
                <a:schemeClr val="dk1"/>
              </a:solidFill>
              <a:latin typeface="Calibri"/>
              <a:ea typeface="Calibri"/>
              <a:cs typeface="Calibri"/>
              <a:sym typeface="Calibri"/>
            </a:endParaRPr>
          </a:p>
        </p:txBody>
      </p:sp>
      <p:pic>
        <p:nvPicPr>
          <p:cNvPr id="211" name="Google Shape;211;g31afd55de18_1_0"/>
          <p:cNvPicPr preferRelativeResize="0"/>
          <p:nvPr/>
        </p:nvPicPr>
        <p:blipFill rotWithShape="1">
          <a:blip r:embed="rId6">
            <a:alphaModFix/>
          </a:blip>
          <a:srcRect b="0" l="0" r="0" t="0"/>
          <a:stretch/>
        </p:blipFill>
        <p:spPr>
          <a:xfrm>
            <a:off x="899750" y="6828050"/>
            <a:ext cx="4630250" cy="1233000"/>
          </a:xfrm>
          <a:prstGeom prst="rect">
            <a:avLst/>
          </a:prstGeom>
          <a:noFill/>
          <a:ln>
            <a:noFill/>
          </a:ln>
        </p:spPr>
      </p:pic>
      <p:pic>
        <p:nvPicPr>
          <p:cNvPr id="212" name="Google Shape;212;g31afd55de18_1_0"/>
          <p:cNvPicPr preferRelativeResize="0"/>
          <p:nvPr/>
        </p:nvPicPr>
        <p:blipFill rotWithShape="1">
          <a:blip r:embed="rId7">
            <a:alphaModFix/>
          </a:blip>
          <a:srcRect b="0" l="0" r="16957" t="0"/>
          <a:stretch/>
        </p:blipFill>
        <p:spPr>
          <a:xfrm>
            <a:off x="7718938" y="5510313"/>
            <a:ext cx="3995641" cy="3868475"/>
          </a:xfrm>
          <a:prstGeom prst="rect">
            <a:avLst/>
          </a:prstGeom>
          <a:noFill/>
          <a:ln>
            <a:noFill/>
          </a:ln>
        </p:spPr>
      </p:pic>
      <p:pic>
        <p:nvPicPr>
          <p:cNvPr id="213" name="Google Shape;213;g31afd55de18_1_0"/>
          <p:cNvPicPr preferRelativeResize="0"/>
          <p:nvPr/>
        </p:nvPicPr>
        <p:blipFill rotWithShape="1">
          <a:blip r:embed="rId8">
            <a:alphaModFix/>
          </a:blip>
          <a:srcRect b="0" l="0" r="0" t="0"/>
          <a:stretch/>
        </p:blipFill>
        <p:spPr>
          <a:xfrm>
            <a:off x="12623125" y="5612300"/>
            <a:ext cx="4189950" cy="37664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1b0c2a5d6e_0_29"/>
          <p:cNvSpPr txBox="1"/>
          <p:nvPr>
            <p:ph type="ctrTitle"/>
          </p:nvPr>
        </p:nvSpPr>
        <p:spPr>
          <a:xfrm>
            <a:off x="1897325" y="1346225"/>
            <a:ext cx="59223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b="1" lang="en-US" sz="6000"/>
              <a:t>Conclusion</a:t>
            </a:r>
            <a:endParaRPr sz="6000"/>
          </a:p>
        </p:txBody>
      </p:sp>
      <p:sp>
        <p:nvSpPr>
          <p:cNvPr id="219" name="Google Shape;219;g31b0c2a5d6e_0_29"/>
          <p:cNvSpPr txBox="1"/>
          <p:nvPr/>
        </p:nvSpPr>
        <p:spPr>
          <a:xfrm>
            <a:off x="1645650" y="6205125"/>
            <a:ext cx="15651600" cy="303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latin typeface="Calibri"/>
                <a:ea typeface="Calibri"/>
                <a:cs typeface="Calibri"/>
                <a:sym typeface="Calibri"/>
              </a:rPr>
              <a:t>Model Comparison:</a:t>
            </a:r>
            <a:endParaRPr sz="24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2400">
                <a:solidFill>
                  <a:schemeClr val="dk1"/>
                </a:solidFill>
                <a:latin typeface="Calibri"/>
                <a:ea typeface="Calibri"/>
                <a:cs typeface="Calibri"/>
                <a:sym typeface="Calibri"/>
              </a:rPr>
              <a:t>The </a:t>
            </a:r>
            <a:r>
              <a:rPr b="1" lang="en-US" sz="2400">
                <a:solidFill>
                  <a:schemeClr val="dk1"/>
                </a:solidFill>
                <a:latin typeface="Calibri"/>
                <a:ea typeface="Calibri"/>
                <a:cs typeface="Calibri"/>
                <a:sym typeface="Calibri"/>
              </a:rPr>
              <a:t>CART model </a:t>
            </a:r>
            <a:r>
              <a:rPr lang="en-US" sz="2400">
                <a:solidFill>
                  <a:schemeClr val="dk1"/>
                </a:solidFill>
                <a:latin typeface="Calibri"/>
                <a:ea typeface="Calibri"/>
                <a:cs typeface="Calibri"/>
                <a:sym typeface="Calibri"/>
              </a:rPr>
              <a:t>performs well on the training with 89% sensitivity and specificity, but weaker error metrics on the </a:t>
            </a:r>
            <a:r>
              <a:rPr lang="en-US" sz="2400">
                <a:solidFill>
                  <a:schemeClr val="dk1"/>
                </a:solidFill>
                <a:latin typeface="Calibri"/>
                <a:ea typeface="Calibri"/>
                <a:cs typeface="Calibri"/>
                <a:sym typeface="Calibri"/>
              </a:rPr>
              <a:t>validation set shows signs of overfitting.</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b="1" lang="en-US" sz="2400">
                <a:solidFill>
                  <a:schemeClr val="dk1"/>
                </a:solidFill>
                <a:latin typeface="Calibri"/>
                <a:ea typeface="Calibri"/>
                <a:cs typeface="Calibri"/>
                <a:sym typeface="Calibri"/>
              </a:rPr>
              <a:t>Neural Network</a:t>
            </a:r>
            <a:r>
              <a:rPr lang="en-US" sz="2400">
                <a:solidFill>
                  <a:schemeClr val="dk1"/>
                </a:solidFill>
                <a:latin typeface="Calibri"/>
                <a:ea typeface="Calibri"/>
                <a:cs typeface="Calibri"/>
                <a:sym typeface="Calibri"/>
              </a:rPr>
              <a:t> Analysis: Outperforms other models on the validation set, with the highest sensitivity (43%) and specificity (74%), coupled with a relatively low error rate of 41%. This indicates its strong generalization ability, making it the most suitable model for predicting customer satisfaction.</a:t>
            </a:r>
            <a:endParaRPr sz="2400">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3200"/>
              <a:buFont typeface="Arial"/>
              <a:buNone/>
            </a:pPr>
            <a:r>
              <a:t/>
            </a:r>
            <a:endParaRPr sz="2400">
              <a:solidFill>
                <a:schemeClr val="dk1"/>
              </a:solidFill>
              <a:latin typeface="Calibri"/>
              <a:ea typeface="Calibri"/>
              <a:cs typeface="Calibri"/>
              <a:sym typeface="Calibri"/>
            </a:endParaRPr>
          </a:p>
        </p:txBody>
      </p:sp>
      <p:graphicFrame>
        <p:nvGraphicFramePr>
          <p:cNvPr id="220" name="Google Shape;220;g31b0c2a5d6e_0_29"/>
          <p:cNvGraphicFramePr/>
          <p:nvPr/>
        </p:nvGraphicFramePr>
        <p:xfrm>
          <a:off x="1897325" y="2816225"/>
          <a:ext cx="3000000" cy="3000000"/>
        </p:xfrm>
        <a:graphic>
          <a:graphicData uri="http://schemas.openxmlformats.org/drawingml/2006/table">
            <a:tbl>
              <a:tblPr>
                <a:noFill/>
                <a:tableStyleId>{77E6C0C2-0E81-4D50-8E98-7F2A2882598D}</a:tableStyleId>
              </a:tblPr>
              <a:tblGrid>
                <a:gridCol w="3124200"/>
                <a:gridCol w="819150"/>
                <a:gridCol w="1009650"/>
                <a:gridCol w="1009650"/>
                <a:gridCol w="1000125"/>
                <a:gridCol w="1028700"/>
                <a:gridCol w="1009650"/>
                <a:gridCol w="1009650"/>
                <a:gridCol w="1000125"/>
              </a:tblGrid>
              <a:tr h="285750">
                <a:tc rowSpan="2">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gridSpan="4">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Training</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hMerge="1"/>
                <a:tc hMerge="1"/>
                <a:tc hMerge="1"/>
                <a:tc gridSpan="4">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Validation</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hMerge="1"/>
                <a:tc hMerge="1"/>
                <a:tc hMerge="1"/>
              </a:tr>
              <a:tr h="285750">
                <a:tc vMerge="1"/>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AUC</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Error Rate</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Sensitivity</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Specificity</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AUC</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Error Rate</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Sensitivity</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Specificity</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5750">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Logistic Regression Model</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0.56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45%</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42%</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67%</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0.52</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60%</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5750">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CART Model (Gini)</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a:txBody>
                    <a:bodyPr/>
                    <a:lstStyle/>
                    <a:p>
                      <a:pPr indent="0" lvl="0" marL="0" marR="0" rtl="0" algn="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0.97</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10%</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89%</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89%</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0.56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44%</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57%</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54%</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5750">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Neural Network (hidden layer 8)</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39%</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44%</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77%</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41%</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43%</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74%</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5750">
                <a:tc>
                  <a:txBody>
                    <a:bodyPr/>
                    <a:lstStyle/>
                    <a:p>
                      <a:pPr indent="0" lvl="0" marL="0" marR="0" rtl="0" algn="l">
                        <a:lnSpc>
                          <a:spcPct val="115000"/>
                        </a:lnSpc>
                        <a:spcBef>
                          <a:spcPts val="0"/>
                        </a:spcBef>
                        <a:spcAft>
                          <a:spcPts val="0"/>
                        </a:spcAft>
                        <a:buClr>
                          <a:srgbClr val="000000"/>
                        </a:buClr>
                        <a:buSzPts val="1800"/>
                        <a:buFont typeface="Arial"/>
                        <a:buNone/>
                      </a:pPr>
                      <a:r>
                        <a:rPr b="1" lang="en-US" sz="1800" u="none" cap="none" strike="noStrike">
                          <a:latin typeface="Calibri"/>
                          <a:ea typeface="Calibri"/>
                          <a:cs typeface="Calibri"/>
                          <a:sym typeface="Calibri"/>
                        </a:rPr>
                        <a:t>Discriminant Analysis</a:t>
                      </a:r>
                      <a:endParaRPr b="1"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E6E6"/>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46%</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34%</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72%</a:t>
                      </a:r>
                      <a:endParaRPr sz="1800" u="none" cap="none" strike="noStrike">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   </a:t>
                      </a:r>
                      <a:r>
                        <a:rPr lang="en-US" sz="1800" u="none" cap="none" strike="noStrike"/>
                        <a:t> </a:t>
                      </a:r>
                      <a:endParaRPr sz="18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51%</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30%</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1400"/>
                        <a:buFont typeface="Arial"/>
                        <a:buNone/>
                      </a:pPr>
                      <a:r>
                        <a:rPr lang="en-US" sz="1400" u="none" cap="none" strike="noStrike"/>
                        <a:t>65%</a:t>
                      </a:r>
                      <a:endParaRPr sz="1400" u="none" cap="none" strike="noStrike"/>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1b176f8e0e_1_12"/>
          <p:cNvSpPr txBox="1"/>
          <p:nvPr>
            <p:ph type="ctrTitle"/>
          </p:nvPr>
        </p:nvSpPr>
        <p:spPr>
          <a:xfrm>
            <a:off x="685800" y="579775"/>
            <a:ext cx="15941100" cy="69891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0"/>
              </a:spcAft>
              <a:buNone/>
            </a:pPr>
            <a:r>
              <a:rPr b="1" lang="en-US" sz="2400"/>
              <a:t>Findings:</a:t>
            </a:r>
            <a:endParaRPr b="1" sz="2400"/>
          </a:p>
          <a:p>
            <a:pPr indent="-298450" lvl="0" marL="457200" rtl="0" algn="l">
              <a:lnSpc>
                <a:spcPct val="115000"/>
              </a:lnSpc>
              <a:spcBef>
                <a:spcPts val="1200"/>
              </a:spcBef>
              <a:spcAft>
                <a:spcPts val="0"/>
              </a:spcAft>
              <a:buSzPts val="1100"/>
              <a:buFont typeface="Arial"/>
              <a:buChar char="●"/>
            </a:pPr>
            <a:r>
              <a:rPr lang="en-US" sz="2400"/>
              <a:t>Key factors influencing customer satisfaction through data-driven analysis - Total price, Date and Time.</a:t>
            </a:r>
            <a:endParaRPr sz="2400"/>
          </a:p>
          <a:p>
            <a:pPr indent="-298450" lvl="0" marL="457200" rtl="0" algn="l">
              <a:lnSpc>
                <a:spcPct val="115000"/>
              </a:lnSpc>
              <a:spcBef>
                <a:spcPts val="0"/>
              </a:spcBef>
              <a:spcAft>
                <a:spcPts val="0"/>
              </a:spcAft>
              <a:buSzPts val="1100"/>
              <a:buFont typeface="Arial"/>
              <a:buChar char="●"/>
            </a:pPr>
            <a:r>
              <a:rPr lang="en-US" sz="2400"/>
              <a:t>Models can predict satisfaction trends across similar customer demographics</a:t>
            </a:r>
            <a:endParaRPr sz="2400"/>
          </a:p>
          <a:p>
            <a:pPr indent="0" lvl="0" marL="0" rtl="0" algn="l">
              <a:lnSpc>
                <a:spcPct val="115000"/>
              </a:lnSpc>
              <a:spcBef>
                <a:spcPts val="1200"/>
              </a:spcBef>
              <a:spcAft>
                <a:spcPts val="0"/>
              </a:spcAft>
              <a:buNone/>
            </a:pPr>
            <a:r>
              <a:rPr b="1" lang="en-US" sz="2400"/>
              <a:t>Shortcomings:</a:t>
            </a:r>
            <a:endParaRPr b="1" sz="2400"/>
          </a:p>
          <a:p>
            <a:pPr indent="-298450" lvl="0" marL="457200" rtl="0" algn="l">
              <a:lnSpc>
                <a:spcPct val="115000"/>
              </a:lnSpc>
              <a:spcBef>
                <a:spcPts val="1200"/>
              </a:spcBef>
              <a:spcAft>
                <a:spcPts val="0"/>
              </a:spcAft>
              <a:buSzPts val="1100"/>
              <a:buFont typeface="Arial"/>
              <a:buChar char="●"/>
            </a:pPr>
            <a:r>
              <a:rPr lang="en-US" sz="2400"/>
              <a:t>Potential biases in the data collection process could impact the generalizability of results.</a:t>
            </a:r>
            <a:endParaRPr sz="2400"/>
          </a:p>
          <a:p>
            <a:pPr indent="-298450" lvl="0" marL="457200" rtl="0" algn="l">
              <a:lnSpc>
                <a:spcPct val="115000"/>
              </a:lnSpc>
              <a:spcBef>
                <a:spcPts val="0"/>
              </a:spcBef>
              <a:spcAft>
                <a:spcPts val="0"/>
              </a:spcAft>
              <a:buSzPts val="1100"/>
              <a:buFont typeface="Arial"/>
              <a:buChar char="●"/>
            </a:pPr>
            <a:r>
              <a:rPr lang="en-US" sz="2400"/>
              <a:t>The  dataset size is relatively small, which might limit the robustness of the findings.</a:t>
            </a:r>
            <a:endParaRPr sz="2400"/>
          </a:p>
          <a:p>
            <a:pPr indent="0" lvl="0" marL="0" rtl="0" algn="l">
              <a:lnSpc>
                <a:spcPct val="115000"/>
              </a:lnSpc>
              <a:spcBef>
                <a:spcPts val="1200"/>
              </a:spcBef>
              <a:spcAft>
                <a:spcPts val="0"/>
              </a:spcAft>
              <a:buNone/>
            </a:pPr>
            <a:r>
              <a:rPr b="1" lang="en-US" sz="2400"/>
              <a:t>Suggestions for Improvement:</a:t>
            </a:r>
            <a:endParaRPr b="1" sz="2400"/>
          </a:p>
          <a:p>
            <a:pPr indent="-298450" lvl="0" marL="457200" rtl="0" algn="l">
              <a:lnSpc>
                <a:spcPct val="115000"/>
              </a:lnSpc>
              <a:spcBef>
                <a:spcPts val="1200"/>
              </a:spcBef>
              <a:spcAft>
                <a:spcPts val="0"/>
              </a:spcAft>
              <a:buSzPts val="1100"/>
              <a:buFont typeface="Arial"/>
              <a:buChar char="●"/>
            </a:pPr>
            <a:r>
              <a:rPr lang="en-US" sz="2400"/>
              <a:t>Increase the dataset size(2019) and diversity to capture a wider range of customer behaviors.</a:t>
            </a:r>
            <a:endParaRPr sz="2400"/>
          </a:p>
          <a:p>
            <a:pPr indent="-298450" lvl="0" marL="457200" rtl="0" algn="l">
              <a:lnSpc>
                <a:spcPct val="115000"/>
              </a:lnSpc>
              <a:spcBef>
                <a:spcPts val="0"/>
              </a:spcBef>
              <a:spcAft>
                <a:spcPts val="0"/>
              </a:spcAft>
              <a:buSzPts val="1100"/>
              <a:buFont typeface="Arial"/>
              <a:buChar char="●"/>
            </a:pPr>
            <a:r>
              <a:rPr lang="en-US" sz="2400"/>
              <a:t>Incorporate additional variables, such as customer feedback, to improve the accuracy and relevance of predictions.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ctr">
              <a:lnSpc>
                <a:spcPct val="100000"/>
              </a:lnSpc>
              <a:spcBef>
                <a:spcPts val="0"/>
              </a:spcBef>
              <a:spcAft>
                <a:spcPts val="0"/>
              </a:spcAft>
              <a:buSzPts val="1800"/>
              <a:buNone/>
            </a:pPr>
            <a:r>
              <a:t/>
            </a:r>
            <a:endParaRPr/>
          </a:p>
        </p:txBody>
      </p:sp>
      <p:sp>
        <p:nvSpPr>
          <p:cNvPr id="226" name="Google Shape;226;g31b176f8e0e_1_12"/>
          <p:cNvSpPr txBox="1"/>
          <p:nvPr/>
        </p:nvSpPr>
        <p:spPr>
          <a:xfrm>
            <a:off x="1627425" y="4900775"/>
            <a:ext cx="129342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t/>
            </a:r>
            <a:endParaRPr sz="23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